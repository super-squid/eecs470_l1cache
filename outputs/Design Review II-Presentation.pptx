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626208b34e42fe" /><Relationship Type="http://schemas.openxmlformats.org/officeDocument/2006/relationships/extended-properties" Target="/docProps/app.xml" Id="Rf7c0d6a316bb4527" /><Relationship Type="http://schemas.openxmlformats.org/officeDocument/2006/relationships/officeDocument" Target="/ppt/presentation.xml" Id="R56e1c2880afc49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a636935850413f"/>
    <p:sldMasterId xmlns:r="http://schemas.openxmlformats.org/officeDocument/2006/relationships" id="2147483660" r:id="R14ef1a7fe36a4f5e"/>
  </p:sldMasterIdLst>
  <p:notesMasterIdLst>
    <p:notesMasterId xmlns:r="http://schemas.openxmlformats.org/officeDocument/2006/relationships" r:id="Rb22369c2106f4c6d"/>
  </p:notesMasterIdLst>
  <p:sldIdLst>
    <p:sldId xmlns:r="http://schemas.openxmlformats.org/officeDocument/2006/relationships" id="256" r:id="R62dbe360fc5443ff"/>
    <p:sldId xmlns:r="http://schemas.openxmlformats.org/officeDocument/2006/relationships" id="257" r:id="Re5d9d9ad16cb4e82"/>
    <p:sldId xmlns:r="http://schemas.openxmlformats.org/officeDocument/2006/relationships" id="258" r:id="R8cb5e410638641da"/>
    <p:sldId xmlns:r="http://schemas.openxmlformats.org/officeDocument/2006/relationships" id="259" r:id="Red8cb564192d4807"/>
    <p:sldId xmlns:r="http://schemas.openxmlformats.org/officeDocument/2006/relationships" id="260" r:id="Raf2a42652b7d4047"/>
    <p:sldId xmlns:r="http://schemas.openxmlformats.org/officeDocument/2006/relationships" id="261" r:id="R426a07f2060f468b"/>
    <p:sldId xmlns:r="http://schemas.openxmlformats.org/officeDocument/2006/relationships" id="262" r:id="R1a19ee743c6f431d"/>
    <p:sldId xmlns:r="http://schemas.openxmlformats.org/officeDocument/2006/relationships" id="263" r:id="R2ec7dcaa49cf41ea"/>
    <p:sldId xmlns:r="http://schemas.openxmlformats.org/officeDocument/2006/relationships" id="264" r:id="Rdc5a91e78a1c4517"/>
    <p:sldId xmlns:r="http://schemas.openxmlformats.org/officeDocument/2006/relationships" id="265" r:id="R7c1d7d13d5874317"/>
    <p:sldId xmlns:r="http://schemas.openxmlformats.org/officeDocument/2006/relationships" id="266" r:id="R3fa5fb9e7ada47bc"/>
    <p:sldId xmlns:r="http://schemas.openxmlformats.org/officeDocument/2006/relationships" id="267" r:id="R91a9b5f134a345a5"/>
    <p:sldId xmlns:r="http://schemas.openxmlformats.org/officeDocument/2006/relationships" id="268" r:id="R84e205385e114916"/>
    <p:sldId xmlns:r="http://schemas.openxmlformats.org/officeDocument/2006/relationships" id="269" r:id="Re72cf6919ea8418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51e223160943cf" /><Relationship Type="http://schemas.openxmlformats.org/officeDocument/2006/relationships/slideMaster" Target="/ppt/slideMasters/slideMaster1.xml" Id="Rf9a636935850413f" /><Relationship Type="http://schemas.openxmlformats.org/officeDocument/2006/relationships/slideMaster" Target="/ppt/slideMasters/slideMaster2.xml" Id="R14ef1a7fe36a4f5e" /><Relationship Type="http://schemas.openxmlformats.org/officeDocument/2006/relationships/notesMaster" Target="/ppt/notesMasters/notesMaster1.xml" Id="Rb22369c2106f4c6d" /><Relationship Type="http://schemas.openxmlformats.org/officeDocument/2006/relationships/presProps" Target="/ppt/presProps.xml" Id="R2a10f5b1bdb44381" /><Relationship Type="http://schemas.openxmlformats.org/officeDocument/2006/relationships/tableStyles" Target="/ppt/tableStyles.xml" Id="Rfd909e8399404282" /><Relationship Type="http://schemas.openxmlformats.org/officeDocument/2006/relationships/slide" Target="/ppt/slides/slide1.xml" Id="R62dbe360fc5443ff" /><Relationship Type="http://schemas.openxmlformats.org/officeDocument/2006/relationships/slide" Target="/ppt/slides/slide2.xml" Id="Re5d9d9ad16cb4e82" /><Relationship Type="http://schemas.openxmlformats.org/officeDocument/2006/relationships/slide" Target="/ppt/slides/slide3.xml" Id="R8cb5e410638641da" /><Relationship Type="http://schemas.openxmlformats.org/officeDocument/2006/relationships/slide" Target="/ppt/slides/slide4.xml" Id="Red8cb564192d4807" /><Relationship Type="http://schemas.openxmlformats.org/officeDocument/2006/relationships/slide" Target="/ppt/slides/slide5.xml" Id="Raf2a42652b7d4047" /><Relationship Type="http://schemas.openxmlformats.org/officeDocument/2006/relationships/slide" Target="/ppt/slides/slide6.xml" Id="R426a07f2060f468b" /><Relationship Type="http://schemas.openxmlformats.org/officeDocument/2006/relationships/slide" Target="/ppt/slides/slide7.xml" Id="R1a19ee743c6f431d" /><Relationship Type="http://schemas.openxmlformats.org/officeDocument/2006/relationships/slide" Target="/ppt/slides/slide8.xml" Id="R2ec7dcaa49cf41ea" /><Relationship Type="http://schemas.openxmlformats.org/officeDocument/2006/relationships/slide" Target="/ppt/slides/slide9.xml" Id="Rdc5a91e78a1c4517" /><Relationship Type="http://schemas.openxmlformats.org/officeDocument/2006/relationships/slide" Target="/ppt/slides/slide10.xml" Id="R7c1d7d13d5874317" /><Relationship Type="http://schemas.openxmlformats.org/officeDocument/2006/relationships/slide" Target="/ppt/slides/slide11.xml" Id="R3fa5fb9e7ada47bc" /><Relationship Type="http://schemas.openxmlformats.org/officeDocument/2006/relationships/slide" Target="/ppt/slides/slide12.xml" Id="R91a9b5f134a345a5" /><Relationship Type="http://schemas.openxmlformats.org/officeDocument/2006/relationships/slide" Target="/ppt/slides/slide13.xml" Id="R84e205385e114916" /><Relationship Type="http://schemas.openxmlformats.org/officeDocument/2006/relationships/slide" Target="/ppt/slides/slide14.xml" Id="Re72cf6919ea841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b039e69f62c040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476984ff30484d" /><Relationship Type="http://schemas.openxmlformats.org/officeDocument/2006/relationships/notesMaster" Target="/ppt/notesMasters/notesMaster1.xml" Id="R1353d7d8a9b541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7fd0afe8734eff" /><Relationship Type="http://schemas.openxmlformats.org/officeDocument/2006/relationships/notesMaster" Target="/ppt/notesMasters/notesMaster1.xml" Id="Re511b9f0b1a74a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419e2e2cce4ca2" /><Relationship Type="http://schemas.openxmlformats.org/officeDocument/2006/relationships/notesMaster" Target="/ppt/notesMasters/notesMaster1.xml" Id="Red739659e45447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635ff5acbe4b96" /><Relationship Type="http://schemas.openxmlformats.org/officeDocument/2006/relationships/notesMaster" Target="/ppt/notesMasters/notesMaster1.xml" Id="Rb49770024e464f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3e7cb6c5d74c34" /><Relationship Type="http://schemas.openxmlformats.org/officeDocument/2006/relationships/notesMaster" Target="/ppt/notesMasters/notesMaster1.xml" Id="R92444d804c7c4d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a722c0ebb7489e" /><Relationship Type="http://schemas.openxmlformats.org/officeDocument/2006/relationships/notesMaster" Target="/ppt/notesMasters/notesMaster1.xml" Id="R67472539fe8149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19127ea6f04a08" /><Relationship Type="http://schemas.openxmlformats.org/officeDocument/2006/relationships/notesMaster" Target="/ppt/notesMasters/notesMaster1.xml" Id="R6eb922d9803640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357ed39c264113" /><Relationship Type="http://schemas.openxmlformats.org/officeDocument/2006/relationships/notesMaster" Target="/ppt/notesMasters/notesMaster1.xml" Id="R33302b504d0b4d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f25be4a92d4f4c" /><Relationship Type="http://schemas.openxmlformats.org/officeDocument/2006/relationships/notesMaster" Target="/ppt/notesMasters/notesMaster1.xml" Id="R04faaddde7f340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89ba37c3214adc" /><Relationship Type="http://schemas.openxmlformats.org/officeDocument/2006/relationships/notesMaster" Target="/ppt/notesMasters/notesMaster1.xml" Id="Rb9d68728352046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68890f06d44ba7" /><Relationship Type="http://schemas.openxmlformats.org/officeDocument/2006/relationships/notesMaster" Target="/ppt/notesMasters/notesMaster1.xml" Id="Rc237a00d9f374b6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92fab1bd6a4fd4" /><Relationship Type="http://schemas.openxmlformats.org/officeDocument/2006/relationships/notesMaster" Target="/ppt/notesMasters/notesMaster1.xml" Id="R4d2d2843ad47421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22072cb445944b2" /><Relationship Type="http://schemas.openxmlformats.org/officeDocument/2006/relationships/notesMaster" Target="/ppt/notesMasters/notesMaster1.xml" Id="Rebaddccedc3c41f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d3396ae10b64ca0" /><Relationship Type="http://schemas.openxmlformats.org/officeDocument/2006/relationships/notesMaster" Target="/ppt/notesMasters/notesMaster1.xml" Id="R9adfa72cd5d943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</a:rPr>
              <a:t>\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单击此处添加文本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单击此处添加文本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单击此处添加文本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单击此处添加文本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单击此处添加文本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单击此处添加文本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单击此处添加文本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单击此处添加文本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单击此处添加文本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单击此处添加文本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单击此处添加文本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单击此处添加文本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单击此处添加文本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ae0a4a30324ed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7034101a4c41d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c9d95ebe484c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829ebe04e3436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abb17c91754fe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36611b45ea4de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d0a0bb5f9b479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4bbc67acb544a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f089207c0541a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92fde7a643450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324f618de44de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e77a25a53094cd2" /><Relationship Type="http://schemas.openxmlformats.org/officeDocument/2006/relationships/image" Target="/ppt/media/image2.png" Id="R9b1cab8bec424ba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5117cbf120a4e9d" /><Relationship Type="http://schemas.openxmlformats.org/officeDocument/2006/relationships/image" Target="/ppt/media/image3.png" Id="R9ad8420b31334774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01D24B36-2690-485E-82F8-CC30149D157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6BC0F99A-F846-4C65-8B15-19F504F0FA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01DAE832-FEE7-4D50-A4ED-2424700D1A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4D6335D0-EDFA-4A16-AE46-6651432141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DE2593A2-D6C7-4277-94F7-2561ECBF36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67674EA5-BEE9-4386-8A41-268EC1EB77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D46D8FC7-5FD2-4C41-940A-C48DA05774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CAD17F3-6BBE-4AD5-81DB-7AF15B92FF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4700D05D-6B40-4D27-AFDB-BF4786AC72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EF1EBA47-73E3-4ED6-9260-39B0099BF0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8E772016-F124-44C2-A265-AD42659114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3AF8B796-6CE4-4679-8DF3-4F6F6B6FEE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4D034818-715D-4E7F-8D48-4C94234A59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4D94956A-0759-4A42-AD76-A043D14E42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3850B591-12F3-4222-B99A-5B7D6A7609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90AC6A7D-9B3A-437A-AEC9-FBC99AC18D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3C7D80F3-D087-40ED-B8F5-DD76E9E988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36395EBE-60D8-4FB1-975B-55A8C077C03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E3F6DFD9-EB89-44DA-B2B0-7471332658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73019C3A-0562-4BB3-B6F5-FD58FDC7DD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0F9CB619-1F0E-4AD6-ABF4-6019F053F3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511FD91D-966E-4004-A8D0-5FF3FB6423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12D13AC9-3CE8-49D3-99E4-B5267AEBEA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255675E7-4C34-46AA-8EC2-184BEF5024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9C22573C-EC2F-4D22-88AE-C5EA8F1C98F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E399BE31-FA69-4544-A044-C59334A0DD95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D68A2CE9-8E1F-4A7E-A391-510F1A14D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6991167F-2FAA-4BB4-B5D7-EB2E155540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A752DE87-1751-4E2F-A333-B3B66B9551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2F14E961-DAA2-42B6-BA2B-D7AB1D5418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BF027DFE-EE5E-4872-A28C-0C4E3CDA37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AF56D548-5A79-4602-82F5-EB2885E08C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D64390CF-65F3-4A46-B62D-E8532AFE6C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DB8D3D7E-494A-4CC9-ABC2-0DAD0322F9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4724AE3A-07CF-4B25-9E68-FF71C9FD22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B490DC29-BE0E-4D9B-BBF4-81BA50430C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BA0D5C40-F404-415E-AAA7-372A8D3111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584D8039-4FE9-4619-AE47-8E834E573C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987EC096-9B6F-4A36-A6C2-92FC6AE3E65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5A5771F5-A4DA-4F5A-A4FC-C2B1BC3F7C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59E8EC6B-9EB7-4740-8ECC-012E646643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9D9C6E2C-6276-4E3D-B06E-9D59BC0E84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2AFB5335-659D-401A-A033-2A0AA2B34C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BAB79CFA-ECBB-4D71-94FC-69A94E3B2EB8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D0632F89-A00E-4AFB-97E6-66410C5D71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B5DB5511-BC23-4F64-8836-40B26B44C4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D2D41DF0-FADE-446F-BCE1-5935CD5B83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BF53888D-971F-4E7C-94F3-3823A364E2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8CB91CB9-AE21-4BB8-AC38-00D1139121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6062FEE1-59FC-4053-A6D6-9C4E090784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E4ACEC80-A615-4DBE-823D-53602AF1AE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B3F847EC-EC34-463D-9F34-DF431A3EBE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B507D460-AF7A-43DF-9A21-6CF46F2CC5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F1A40D43-8E2E-43C3-8D25-056F426E06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25EEAA2D-C8A5-4338-A9F9-DADD8AFF98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1CE42DD8-C964-4EBE-A1AF-AD3EAA9BFE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A05EB1F5-7172-4C8C-A2BE-A6129BEE61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34358CF4-757E-4FA2-A7DE-1732E28E41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9158C3A-BAE7-46CF-9D36-7A9BEB198312}"/>
              </a:ext>
            </a:extLst>
          </p:cNvPr>
          <p:cNvSpPr>
            <a:spLocks xmlns:a="http://schemas.openxmlformats.org/drawingml/2006/main" noGrp="1"/>
          </p:cNvSpPr>
          <p:nvPr>
            <p:ph type="body" idx="6" hasCustomPrompt="1"/>
          </p:nvPr>
        </p:nvSpPr>
        <p:spPr>
          <a:xfrm xmlns:a="http://schemas.openxmlformats.org/drawingml/2006/main" rot="0">
            <a:off x="1524000" y="1122363"/>
            <a:ext cx="9144000" cy="23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b">
            <a:noAutofit/>
          </a:bodyPr>
          <a:lstStyle xmlns:a="http://schemas.openxmlformats.org/drawingml/2006/main">
            <a:lvl1pPr algn="ctr">
              <a:lnSpc>
                <a:spcPct val="91666"/>
              </a:lnSpc>
              <a:buNone/>
              <a:defRPr sz="6000" b="0" i="0" u="none" spc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0" indent="0" algn="ctr">
              <a:lnSpc>
                <a:spcPct val="91666"/>
              </a:lnSpc>
              <a:buNone/>
            </a:pPr>
            <a:r>
              <a:rPr sz="6000" b="0" i="0" u="none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单击此处编辑母版标题样式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F361164-FC86-4493-B653-0719C49F2797}"/>
              </a:ext>
            </a:extLst>
          </p:cNvPr>
          <p:cNvSpPr>
            <a:spLocks xmlns:a="http://schemas.openxmlformats.org/drawingml/2006/main" noGrp="1"/>
          </p:cNvSpPr>
          <p:nvPr>
            <p:ph type="body" idx="7" hasCustomPrompt="1"/>
          </p:nvPr>
        </p:nvSpPr>
        <p:spPr>
          <a:xfrm xmlns:a="http://schemas.openxmlformats.org/drawingml/2006/main" rot="0">
            <a:off x="1524000" y="3602038"/>
            <a:ext cx="9144000" cy="1655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lnSpcReduction="0"/>
          </a:bodyPr>
          <a:lstStyle xmlns:a="http://schemas.openxmlformats.org/drawingml/2006/main">
            <a:lvl1pPr algn="ctr">
              <a:lnSpc>
                <a:spcPct val="91666"/>
              </a:lnSpc>
              <a:buNone/>
              <a:defRPr sz="2400" b="0" i="0" u="none" spc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0" indent="0" algn="ctr">
              <a:lnSpc>
                <a:spcPct val="91666"/>
              </a:lnSpc>
              <a:spcBef>
                <a:spcPts val="1000"/>
              </a:spcBef>
              <a:buNone/>
            </a:pPr>
            <a:r>
              <a:rPr sz="2400" b="0" i="0" u="none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单击此处编辑母版副标题样式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7DBD397-7A33-4DE5-B784-A05A0DAF27F7}"/>
              </a:ext>
            </a:extLst>
          </p:cNvPr>
          <p:cNvSpPr>
            <a:spLocks xmlns:a="http://schemas.openxmlformats.org/drawingml/2006/main" noGrp="1"/>
          </p:cNvSpPr>
          <p:nvPr>
            <p:ph type="body" idx="8" hasCustomPrompt="1"/>
          </p:nvPr>
        </p:nvSpPr>
        <p:spPr>
          <a:xfrm xmlns:a="http://schemas.openxmlformats.org/drawingml/2006/main" rot="0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200" b="0" i="0" u="non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</a:rPr>
              <a:t>日期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DC981DF0-A388-4CB9-93C2-873626729E2E}"/>
              </a:ext>
            </a:extLst>
          </p:cNvPr>
          <p:cNvSpPr>
            <a:spLocks xmlns:a="http://schemas.openxmlformats.org/drawingml/2006/main" noGrp="1"/>
          </p:cNvSpPr>
          <p:nvPr>
            <p:ph type="body" idx="9" hasCustomPrompt="1"/>
          </p:nvPr>
        </p:nvSpPr>
        <p:spPr>
          <a:xfrm xmlns:a="http://schemas.openxmlformats.org/drawingml/2006/main" rot="0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1200" b="0" i="0" u="none" spc="0">
                <a:solidFill>
                  <a:srgbClr val="1F2329">
                    <a:alpha val="100000"/>
                  </a:srgbClr>
                </a:solidFill>
                <a:latin typeface="Noto Sans SC"/>
                <a:ea typeface="Noto Sans SC"/>
                <a:cs typeface="Noto Sans SC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</a:rPr>
              <a:t>页脚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18CA938-216A-466F-B9C4-A476B6101831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 rot="0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1200" b="0" i="0" u="non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</a:rPr>
              <a:t>‹#›</a:t>
            </a:r>
          </a:p>
        </p:txBody>
      </p:sp>
      <p:pic>
        <p:nvPicPr>
          <p:cNvPr id="7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1cab8bec424b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144060" y="206059"/>
            <a:ext cx="2783721" cy="452542"/>
          </a:xfrm>
          <a:prstGeom xmlns:a="http://schemas.openxmlformats.org/drawingml/2006/main" prst="rect">
            <a:avLst/>
          </a:prstGeom>
          <a:ln xmlns:a="http://schemas.openxmlformats.org/drawingml/2006/main" w="12700">
            <a:noFill/>
            <a:prstDash val="solid"/>
          </a:ln>
        </p:spPr>
      </p:pic>
    </p:spTree>
  </p:cSld>
</p:sldLayout>
</file>

<file path=ppt/slideLayouts/slideLayout13.xml><?xml version="1.0" encoding="utf-8"?>
<p:sldLayout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DB854264-ABA2-48BE-B0EE-4A9589738DA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 rot="0">
            <a:off x="0" y="0"/>
            <a:ext cx="1219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ctr">
            <a:normAutofit lnSpcReduction="0"/>
          </a:bodyPr>
          <a:lstStyle xmlns:a="http://schemas.openxmlformats.org/drawingml/2006/main">
            <a:lvl1pPr algn="l">
              <a:lnSpc>
                <a:spcPct val="91666"/>
              </a:lnSpc>
              <a:buNone/>
              <a:defRPr sz="2800" b="1" i="0" u="none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91666"/>
              </a:lnSpc>
              <a:buNone/>
            </a:pP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Master title style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40644FA-A611-4EBA-887F-EA5EBA44F0D3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 rot="0">
            <a:off x="406400" y="914400"/>
            <a:ext cx="11480800" cy="510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t">
            <a:normAutofit lnSpcReduction="0"/>
          </a:bodyPr>
          <a:lstStyle xmlns:a="http://schemas.openxmlformats.org/drawingml/2006/main">
            <a:lvl1pPr algn="l">
              <a:lnSpc>
                <a:spcPct val="91666"/>
              </a:lnSpc>
              <a:buNone/>
              <a:defRPr sz="2800" b="0" i="0" u="none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  <a:lvl2pPr marL="762000" indent="-304800">
              <a:buNone/>
              <a:defRPr/>
            </a:lvl2pPr>
            <a:lvl3pPr marL="1168400" indent="-254000">
              <a:buNone/>
              <a:defRPr/>
            </a:lvl3pPr>
            <a:lvl4pPr marL="1574800" indent="-254000">
              <a:buNone/>
              <a:defRPr/>
            </a:lvl4pPr>
            <a:lvl5pPr marL="1981200" indent="-254000">
              <a:buNone/>
              <a:defRPr/>
            </a:lvl5pPr>
            <a:lvl6pPr marL="2387600" indent="-254000">
              <a:buNone/>
              <a:defRPr/>
            </a:lvl6pPr>
            <a:lvl7pPr marL="2794000" indent="-254000">
              <a:buNone/>
              <a:defRPr/>
            </a:lvl7pPr>
            <a:lvl8pPr marL="3200400" indent="-254000">
              <a:buNone/>
              <a:defRPr/>
            </a:lvl8pPr>
            <a:lvl9pPr marL="3606800" indent="-254000">
              <a:buNone/>
              <a:defRPr/>
            </a:lvl9pPr>
          </a:lstStyle>
          <a:p xmlns:a="http://schemas.openxmlformats.org/drawingml/2006/main">
            <a:pPr marL="355600" indent="-355600" algn="l">
              <a:lnSpc>
                <a:spcPct val="91666"/>
              </a:lnSpc>
              <a:spcBef>
                <a:spcPts val="1000"/>
              </a:spcBef>
              <a:buChar char="•"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Master text styles</a:t>
            </a:r>
          </a:p>
          <a:p xmlns:a="http://schemas.openxmlformats.org/drawingml/2006/main">
            <a:pPr marL="762000" indent="-304800" algn="l">
              <a:lnSpc>
                <a:spcPct val="91666"/>
              </a:lnSpc>
              <a:spcBef>
                <a:spcPts val="500"/>
              </a:spcBef>
              <a:buChar char="•"/>
            </a:pPr>
            <a:r>
              <a:rPr sz="2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level</a:t>
            </a:r>
          </a:p>
          <a:p xmlns:a="http://schemas.openxmlformats.org/drawingml/2006/main">
            <a:pPr marL="1168400" indent="-254000" algn="l">
              <a:lnSpc>
                <a:spcPct val="91666"/>
              </a:lnSpc>
              <a:spcBef>
                <a:spcPts val="500"/>
              </a:spcBef>
              <a:buChar char="•"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level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07F0A4E-BEB4-4A16-9A1D-E519B7403532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 rot="0">
            <a:off x="11582400" y="64008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0" tIns="0" rIns="0" bIns="0" anchor="b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1200" b="0" i="0" u="none" spc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200" b="0" i="0" u="none">
                <a:solidFill>
                  <a:srgbClr val="595959"/>
                </a:solidFill>
                <a:latin typeface="Arial"/>
                <a:ea typeface="Arial"/>
                <a:cs typeface="Arial"/>
              </a:rPr>
              <a:t>‹#›</a:t>
            </a:r>
          </a:p>
        </p:txBody>
      </p:sp>
      <p:cxnSp>
        <p:nvCxnSpPr>
          <p:cNvPr id="5" name="Connector 5"/>
          <p:cNvCxnSpPr/>
          <p:nvPr/>
        </p:nvCxnSpPr>
        <p:spPr>
          <a:xfrm xmlns:a="http://schemas.openxmlformats.org/drawingml/2006/main" rot="0">
            <a:off x="304800" y="762000"/>
            <a:ext cx="115824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0285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8420b3133477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883173" y="6019800"/>
            <a:ext cx="927827" cy="821873"/>
          </a:xfrm>
          <a:prstGeom xmlns:a="http://schemas.openxmlformats.org/drawingml/2006/main" prst="rect">
            <a:avLst/>
          </a:prstGeom>
          <a:ln xmlns:a="http://schemas.openxmlformats.org/drawingml/2006/main" w="12700">
            <a:noFill/>
            <a:prstDash val="solid"/>
          </a:ln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a950c2e452ca4946" /><Relationship Type="http://schemas.openxmlformats.org/officeDocument/2006/relationships/theme" Target="/ppt/slideMasters/theme/theme2.xml" Id="R7261b7d166384224" /><Relationship Type="http://schemas.openxmlformats.org/officeDocument/2006/relationships/slideLayout" Target="/ppt/slideLayouts/slideLayout1.xml" Id="R3e94d58d26aa4aeb" /><Relationship Type="http://schemas.openxmlformats.org/officeDocument/2006/relationships/slideLayout" Target="/ppt/slideLayouts/slideLayout2.xml" Id="R2f6cd27b5fd84b1e" /><Relationship Type="http://schemas.openxmlformats.org/officeDocument/2006/relationships/slideLayout" Target="/ppt/slideLayouts/slideLayout3.xml" Id="R2f2cbece01b14123" /><Relationship Type="http://schemas.openxmlformats.org/officeDocument/2006/relationships/slideLayout" Target="/ppt/slideLayouts/slideLayout4.xml" Id="R4d9ea71c811c4955" /><Relationship Type="http://schemas.openxmlformats.org/officeDocument/2006/relationships/slideLayout" Target="/ppt/slideLayouts/slideLayout5.xml" Id="R750bd9aeadf4454e" /><Relationship Type="http://schemas.openxmlformats.org/officeDocument/2006/relationships/slideLayout" Target="/ppt/slideLayouts/slideLayout6.xml" Id="Reb7246caea2b4957" /><Relationship Type="http://schemas.openxmlformats.org/officeDocument/2006/relationships/slideLayout" Target="/ppt/slideLayouts/slideLayout7.xml" Id="R24a00991a70d43fd" /><Relationship Type="http://schemas.openxmlformats.org/officeDocument/2006/relationships/slideLayout" Target="/ppt/slideLayouts/slideLayout8.xml" Id="Raf4a0a9c891b4868" /><Relationship Type="http://schemas.openxmlformats.org/officeDocument/2006/relationships/slideLayout" Target="/ppt/slideLayouts/slideLayout9.xml" Id="R43724d9002874d2c" /><Relationship Type="http://schemas.openxmlformats.org/officeDocument/2006/relationships/slideLayout" Target="/ppt/slideLayouts/slideLayout10.xml" Id="R0c995a875a51417e" /><Relationship Type="http://schemas.openxmlformats.org/officeDocument/2006/relationships/slideLayout" Target="/ppt/slideLayouts/slideLayout11.xml" Id="R39c9dd472098409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5dd6cebfdce0446e" /><Relationship Type="http://schemas.openxmlformats.org/officeDocument/2006/relationships/theme" Target="/ppt/slideMasters/theme/theme3.xml" Id="R256a3233e5094541" /><Relationship Type="http://schemas.openxmlformats.org/officeDocument/2006/relationships/slideLayout" Target="/ppt/slideLayouts/slideLayout12.xml" Id="R56a12877259d4276" /><Relationship Type="http://schemas.openxmlformats.org/officeDocument/2006/relationships/slideLayout" Target="/ppt/slideLayouts/slideLayout13.xml" Id="R36053ed483b940f8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4CB42523-2C4B-4EB3-8218-23843743A0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89B2E4AB-6526-4129-859F-CCE39150A4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9880AA30-2B0B-4AA1-B95B-3DAEF1C312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F82C1D10-77D3-4696-A671-2C2CE388E7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274BC8BA-5CEA-4B33-997F-32BE8FAB02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pic>
        <p:nvPicPr>
          <p:cNvPr id="1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0c2e452ca49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17000" y="5029200"/>
            <a:ext cx="2286000" cy="1371600"/>
          </a:xfrm>
          <a:prstGeom xmlns:a="http://schemas.openxmlformats.org/drawingml/2006/main"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94d58d26aa4aeb"/>
    <p:sldLayoutId xmlns:r="http://schemas.openxmlformats.org/officeDocument/2006/relationships" id="2147483650" r:id="R2f6cd27b5fd84b1e"/>
    <p:sldLayoutId xmlns:r="http://schemas.openxmlformats.org/officeDocument/2006/relationships" id="2147483651" r:id="R2f2cbece01b14123"/>
    <p:sldLayoutId xmlns:r="http://schemas.openxmlformats.org/officeDocument/2006/relationships" id="2147483652" r:id="R4d9ea71c811c4955"/>
    <p:sldLayoutId xmlns:r="http://schemas.openxmlformats.org/officeDocument/2006/relationships" id="2147483653" r:id="R750bd9aeadf4454e"/>
    <p:sldLayoutId xmlns:r="http://schemas.openxmlformats.org/officeDocument/2006/relationships" id="2147483654" r:id="Reb7246caea2b4957"/>
    <p:sldLayoutId xmlns:r="http://schemas.openxmlformats.org/officeDocument/2006/relationships" id="2147483655" r:id="R24a00991a70d43fd"/>
    <p:sldLayoutId xmlns:r="http://schemas.openxmlformats.org/officeDocument/2006/relationships" id="2147483656" r:id="Raf4a0a9c891b4868"/>
    <p:sldLayoutId xmlns:r="http://schemas.openxmlformats.org/officeDocument/2006/relationships" id="2147483657" r:id="R43724d9002874d2c"/>
    <p:sldLayoutId xmlns:r="http://schemas.openxmlformats.org/officeDocument/2006/relationships" id="2147483658" r:id="R0c995a875a51417e"/>
    <p:sldLayoutId xmlns:r="http://schemas.openxmlformats.org/officeDocument/2006/relationships" id="2147483659" r:id="R39c9dd4720984099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Office 2013 - 2022 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d6cebfdce044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17000" y="5029200"/>
            <a:ext cx="2286000" cy="1371600"/>
          </a:xfrm>
          <a:prstGeom xmlns:a="http://schemas.openxmlformats.org/drawingml/2006/main"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56a12877259d4276"/>
    <p:sldLayoutId xmlns:r="http://schemas.openxmlformats.org/officeDocument/2006/relationships" id="2147483662" r:id="R36053ed483b940f8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2013 - 2022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9a286c0bb5a480d" /><Relationship Type="http://schemas.openxmlformats.org/officeDocument/2006/relationships/notesSlide" Target="/ppt/notesSlides/notesSlide1.xml" Id="Rb6ef3f05aaeb4a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9e99ab0d27b44b2" /><Relationship Type="http://schemas.openxmlformats.org/officeDocument/2006/relationships/notesSlide" Target="/ppt/notesSlides/notesSlide2.xml" Id="Rcb80a0c518d24f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e745a2b6b5948d9" /><Relationship Type="http://schemas.openxmlformats.org/officeDocument/2006/relationships/notesSlide" Target="/ppt/notesSlides/notesSlide3.xml" Id="R037b9ad9d6cb40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223d1d6471a4f1a" /><Relationship Type="http://schemas.openxmlformats.org/officeDocument/2006/relationships/notesSlide" Target="/ppt/notesSlides/notesSlide4.xml" Id="R69f1d24c5db748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eb2411007b5476a" /><Relationship Type="http://schemas.openxmlformats.org/officeDocument/2006/relationships/notesSlide" Target="/ppt/notesSlides/notesSlide5.xml" Id="Rb14cf931ce5649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13e869ac15c4ed1" /><Relationship Type="http://schemas.openxmlformats.org/officeDocument/2006/relationships/notesSlide" Target="/ppt/notesSlides/notesSlide6.xml" Id="R2f977f14250644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8b9e90b68624377" /><Relationship Type="http://schemas.openxmlformats.org/officeDocument/2006/relationships/notesSlide" Target="/ppt/notesSlides/notesSlide7.xml" Id="Rea5057a5b9054e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e349cc697204314" /><Relationship Type="http://schemas.openxmlformats.org/officeDocument/2006/relationships/notesSlide" Target="/ppt/notesSlides/notesSlide8.xml" Id="Rf5201e2cadb745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67f574c01bd4d39" /><Relationship Type="http://schemas.openxmlformats.org/officeDocument/2006/relationships/notesSlide" Target="/ppt/notesSlides/notesSlide9.xml" Id="Rc252af6cf99945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62a02c4cb4d429e" /><Relationship Type="http://schemas.openxmlformats.org/officeDocument/2006/relationships/notesSlide" Target="/ppt/notesSlides/notesSlide10.xml" Id="R3ef9615d02654e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672e1f80f404210" /><Relationship Type="http://schemas.openxmlformats.org/officeDocument/2006/relationships/notesSlide" Target="/ppt/notesSlides/notesSlide11.xml" Id="R65af81842a07414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4ef5a3739de40b1" /><Relationship Type="http://schemas.openxmlformats.org/officeDocument/2006/relationships/notesSlide" Target="/ppt/notesSlides/notesSlide12.xml" Id="Rad394bead5c6427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c8430b04ce448bb" /><Relationship Type="http://schemas.openxmlformats.org/officeDocument/2006/relationships/notesSlide" Target="/ppt/notesSlides/notesSlide13.xml" Id="R976ca6ae88fa438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62775d99d084395" /><Relationship Type="http://schemas.openxmlformats.org/officeDocument/2006/relationships/notesSlide" Target="/ppt/notesSlides/notesSlide14.xml" Id="R3d4c01d26d88473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490B0899-9E7F-4B19-9234-B2FA8C66E007}"/>
              </a:ext>
            </a:extLst>
          </p:cNvPr>
          <p:cNvSpPr>
            <a:spLocks xmlns:a="http://schemas.openxmlformats.org/drawingml/2006/main" noGrp="1"/>
          </p:cNvSpPr>
          <p:nvPr>
            <p:ph type="body" idx="6" hasCustomPrompt="1"/>
          </p:nvPr>
        </p:nvSpPr>
        <p:spPr>
          <a:xfrm xmlns:a="http://schemas.openxmlformats.org/drawingml/2006/main" rot="0">
            <a:off x="2209800" y="1242212"/>
            <a:ext cx="7772400" cy="2387600"/>
          </a:xfrm>
          <a:prstGeom xmlns:a="http://schemas.openxmlformats.org/drawingml/2006/main" prst="rect">
            <a:avLst/>
          </a:prstGeom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2400" b="0" i="0" u="none" spc="0">
                <a:solidFill>
                  <a:srgbClr val="00285E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400" b="0" i="0" u="none">
                <a:solidFill>
                  <a:srgbClr val="00285E"/>
                </a:solidFill>
                <a:latin typeface="Arial"/>
                <a:ea typeface="Arial"/>
                <a:cs typeface="Arial"/>
              </a:rPr>
              <a:t>ECE4700J Summer 2026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200" b="1" i="0" u="none">
                <a:solidFill>
                  <a:srgbClr val="00285E"/>
                </a:solidFill>
                <a:latin typeface="Arial"/>
                <a:ea typeface="Arial"/>
                <a:cs typeface="Arial"/>
              </a:rPr>
              <a:t>Computer Architecture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200" b="1" i="0" u="none">
                <a:solidFill>
                  <a:srgbClr val="00285E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200" b="1" i="0" u="none">
                <a:solidFill>
                  <a:srgbClr val="00285E"/>
                </a:solidFill>
                <a:latin typeface="Arial"/>
                <a:ea typeface="Arial"/>
                <a:cs typeface="Arial"/>
              </a:rPr>
              <a:t>Design Review II: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200" b="1" i="0" u="none">
                <a:solidFill>
                  <a:srgbClr val="00285E"/>
                </a:solidFill>
                <a:latin typeface="Arial"/>
                <a:ea typeface="Arial"/>
                <a:cs typeface="Arial"/>
              </a:rPr>
              <a:t>Implementation and Testbench Progress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18E20C0C-DE2A-4AFC-BB61-903932F0CA56}"/>
              </a:ext>
            </a:extLst>
          </p:cNvPr>
          <p:cNvSpPr>
            <a:spLocks xmlns:a="http://schemas.openxmlformats.org/drawingml/2006/main" noGrp="1"/>
          </p:cNvSpPr>
          <p:nvPr>
            <p:ph type="body" idx="7" hasCustomPrompt="1"/>
          </p:nvPr>
        </p:nvSpPr>
        <p:spPr>
          <a:xfrm xmlns:a="http://schemas.openxmlformats.org/drawingml/2006/main" rot="0">
            <a:off x="2209801" y="4377916"/>
            <a:ext cx="7772399" cy="13522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>
            <a:lvl1pPr algn="ctr">
              <a:lnSpc>
                <a:spcPct val="91666"/>
              </a:lnSpc>
              <a:buNone/>
              <a:defRPr sz="2400" b="1" i="0" u="none" spc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ctr">
              <a:lnSpc>
                <a:spcPct val="91666"/>
              </a:lnSpc>
              <a:spcBef>
                <a:spcPts val="1000"/>
              </a:spcBef>
              <a:buNone/>
            </a:pPr>
            <a:r>
              <a:rPr sz="24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Yanze Yu, Haotian Xu, Zixiang Wang, Xu Zhang</a:t>
            </a:r>
          </a:p>
          <a:p xmlns:a="http://schemas.openxmlformats.org/drawingml/2006/main">
            <a:pPr marL="0" indent="0" algn="ctr">
              <a:lnSpc>
                <a:spcPct val="91666"/>
              </a:lnSpc>
              <a:spcBef>
                <a:spcPts val="1000"/>
              </a:spcBef>
              <a:buNone/>
            </a:pPr>
            <a:r>
              <a: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Global College, Shanghai Jiao Tong University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E2CD5FC-7F3F-4D96-A7D1-10FB97BE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0" y="5496451"/>
            <a:ext cx="6858000" cy="478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rmAutofit fontScale="88635" lnSpcReduction="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1666"/>
              </a:lnSpc>
              <a:spcBef>
                <a:spcPts val="1000"/>
              </a:spcBef>
              <a:buNone/>
            </a:pPr>
            <a:r>
              <a:rPr sz="21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June 21, 2026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47CEADD-F160-4F42-86D9-4CF824B477B3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 rot="0">
            <a:off x="9448800" y="6478289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1200" b="0" i="0" u="none" spc="0">
                <a:solidFill>
                  <a:srgbClr val="898989">
                    <a:alpha val="100000"/>
                  </a:srgb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22781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5F6F9FE-BED5-4966-AD93-5AA6E602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005" y="202626"/>
            <a:ext cx="11261993" cy="541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b">
            <a:normAutofit fontScale="100000" lnSpcReduction="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1666"/>
              </a:lnSpc>
              <a:buNone/>
            </a:pPr>
            <a:r>
              <a:rPr sz="2960" b="1" i="0" u="none">
                <a:solidFill>
                  <a:srgbClr val="002060"/>
                </a:solidFill>
                <a:latin typeface="Arial"/>
                <a:ea typeface="Arial"/>
                <a:cs typeface="Arial"/>
              </a:rPr>
              <a:t>Agenda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8EE43F6F-B04E-4F17-B942-974FC303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6478289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9230D49C-C6FF-4A49-A364-080CE635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11500" y="3330765"/>
            <a:ext cx="5969000" cy="2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  <a:effectLst xmlns:a="http://schemas.openxmlformats.org/drawingml/2006/main">
            <a:outerShdw blurRad="622300" dist="431800" dir="2700000" algn="tl" rotWithShape="0">
              <a:srgbClr val="000000">
                <a:alpha val="20000"/>
              </a:srgbClr>
            </a:outerShdw>
            <a:reflection blurRad="6350" stA="14000" endA="300" endPos="26000" dist="101600" dir="5400000" sy="-100000" algn="bl" rotWithShape="0"/>
          </a:effectLst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lvl1pPr marL="584200" indent="-241300">
              <a:buNone/>
              <a:defRPr/>
            </a:lvl1pPr>
            <a:lvl2pPr marL="1041400" indent="-241300">
              <a:buNone/>
              <a:defRPr/>
            </a:lvl2pPr>
            <a:lvl3pPr marL="1498600" indent="-241300">
              <a:buNone/>
              <a:defRPr/>
            </a:lvl3pPr>
            <a:lvl4pPr marL="1955800" indent="-241300">
              <a:buNone/>
              <a:defRPr/>
            </a:lvl4pPr>
            <a:lvl5pPr marL="2413000" indent="-241300">
              <a:buNone/>
              <a:defRPr/>
            </a:lvl5pPr>
            <a:lvl6pPr marL="2870200" indent="-241300">
              <a:buNone/>
              <a:defRPr/>
            </a:lvl6pPr>
            <a:lvl7pPr marL="3327400" indent="-241300">
              <a:buNone/>
              <a:defRPr/>
            </a:lvl7pPr>
            <a:lvl8pPr marL="3784600" indent="-241300">
              <a:buNone/>
              <a:defRPr/>
            </a:lvl8pPr>
            <a:lvl9pPr marL="4241800" indent="-241300">
              <a:buNone/>
              <a:defRPr/>
            </a:lvl9pPr>
          </a:lstStyle>
          <a:p xmlns:a="http://schemas.openxmlformats.org/drawingml/2006/main">
            <a:pPr marL="342900" indent="-342900" algn="ctr">
              <a:lnSpc>
                <a:spcPct val="125000"/>
              </a:lnSpc>
              <a:buAutoNum type="arabicPeriod" startAt="1"/>
            </a:pPr>
            <a:r>
              <a:rPr sz="1900" b="1" i="0" u="none">
                <a:solidFill>
                  <a:srgbClr val="002060"/>
                </a:solidFill>
                <a:highlight>
                  <a:srgbClr val="FFFFFF">
                    <a:alpha val="0"/>
                  </a:srgbClr>
                </a:highlight>
                <a:latin typeface="Arial"/>
                <a:ea typeface="Arial"/>
                <a:cs typeface="Arial"/>
              </a:rPr>
              <a:t>Current Progress</a:t>
            </a:r>
          </a:p>
          <a:p xmlns:a="http://schemas.openxmlformats.org/drawingml/2006/main">
            <a:pPr marL="342900" indent="-342900" algn="ctr">
              <a:lnSpc>
                <a:spcPct val="125000"/>
              </a:lnSpc>
              <a:buAutoNum type="arabicPeriod" startAt="1"/>
            </a:pPr>
            <a:r>
              <a:rPr sz="1900" b="1" i="0" u="none">
                <a:solidFill>
                  <a:srgbClr val="002060"/>
                </a:solidFill>
                <a:highlight>
                  <a:srgbClr val="FFFFFF">
                    <a:alpha val="0"/>
                  </a:srgbClr>
                </a:highlight>
                <a:latin typeface="Arial"/>
                <a:ea typeface="Arial"/>
                <a:cs typeface="Arial"/>
              </a:rPr>
              <a:t>Second-Period Module Overview</a:t>
            </a:r>
          </a:p>
          <a:p xmlns:a="http://schemas.openxmlformats.org/drawingml/2006/main">
            <a:pPr marL="342900" indent="-342900" algn="ctr">
              <a:lnSpc>
                <a:spcPct val="125000"/>
              </a:lnSpc>
              <a:buAutoNum type="arabicPeriod" startAt="1"/>
            </a:pPr>
            <a:r>
              <a:rPr sz="1900" b="1" i="0" u="none">
                <a:solidFill>
                  <a:srgbClr val="002060"/>
                </a:solidFill>
                <a:highlight>
                  <a:srgbClr val="FFFFFF">
                    <a:alpha val="0"/>
                  </a:srgbClr>
                </a:highlight>
                <a:latin typeface="Arial"/>
                <a:ea typeface="Arial"/>
                <a:cs typeface="Arial"/>
              </a:rPr>
              <a:t>Module Implementation Updates</a:t>
            </a:r>
          </a:p>
          <a:p xmlns:a="http://schemas.openxmlformats.org/drawingml/2006/main">
            <a:pPr marL="342900" indent="-342900" algn="ctr">
              <a:lnSpc>
                <a:spcPct val="125000"/>
              </a:lnSpc>
              <a:buAutoNum type="arabicPeriod" startAt="1"/>
            </a:pPr>
            <a:r>
              <a:rPr sz="1900" b="1" i="0" u="none">
                <a:solidFill>
                  <a:srgbClr val="002060"/>
                </a:solidFill>
                <a:highlight>
                  <a:srgbClr val="FFFFFF">
                    <a:alpha val="0"/>
                  </a:srgbClr>
                </a:highlight>
                <a:latin typeface="Arial"/>
                <a:ea typeface="Arial"/>
                <a:cs typeface="Arial"/>
              </a:rPr>
              <a:t>Testbench Coverage and Results</a:t>
            </a:r>
          </a:p>
          <a:p xmlns:a="http://schemas.openxmlformats.org/drawingml/2006/main">
            <a:pPr marL="342900" indent="-342900" algn="ctr">
              <a:lnSpc>
                <a:spcPct val="125000"/>
              </a:lnSpc>
              <a:buAutoNum type="arabicPeriod" startAt="1"/>
            </a:pPr>
            <a:r>
              <a:rPr sz="1900" b="1" i="0" u="none">
                <a:solidFill>
                  <a:srgbClr val="002060"/>
                </a:solidFill>
                <a:highlight>
                  <a:srgbClr val="FFFFFF">
                    <a:alpha val="0"/>
                  </a:srgbClr>
                </a:highlight>
                <a:latin typeface="Arial"/>
                <a:ea typeface="Arial"/>
                <a:cs typeface="Arial"/>
              </a:rPr>
              <a:t>Figure / Evidence Placeholders</a:t>
            </a:r>
          </a:p>
          <a:p xmlns:a="http://schemas.openxmlformats.org/drawingml/2006/main">
            <a:pPr marL="342900" indent="-342900" algn="ctr">
              <a:lnSpc>
                <a:spcPct val="125000"/>
              </a:lnSpc>
              <a:buAutoNum type="arabicPeriod" startAt="1"/>
            </a:pPr>
            <a:r>
              <a:rPr sz="1900" b="1" i="0" u="none">
                <a:solidFill>
                  <a:srgbClr val="002060"/>
                </a:solidFill>
                <a:highlight>
                  <a:srgbClr val="FFFFFF">
                    <a:alpha val="0"/>
                  </a:srgbClr>
                </a:highlight>
                <a:latin typeface="Arial"/>
                <a:ea typeface="Arial"/>
                <a:cs typeface="Arial"/>
              </a:rPr>
              <a:t>Timeline: DR I to DR III</a:t>
            </a:r>
          </a:p>
          <a:p xmlns:a="http://schemas.openxmlformats.org/drawingml/2006/main">
            <a:pPr marL="342900" indent="-342900" algn="ctr">
              <a:lnSpc>
                <a:spcPct val="125000"/>
              </a:lnSpc>
              <a:buAutoNum type="arabicPeriod" startAt="1"/>
            </a:pPr>
            <a:r>
              <a:rPr sz="1900" b="1" i="0" u="none">
                <a:solidFill>
                  <a:srgbClr val="002060"/>
                </a:solidFill>
                <a:highlight>
                  <a:srgbClr val="FFFFFF">
                    <a:alpha val="0"/>
                  </a:srgbClr>
                </a:highlight>
                <a:latin typeface="Arial"/>
                <a:ea typeface="Arial"/>
                <a:cs typeface="Arial"/>
              </a:rPr>
              <a:t>Challenges and Next Steps</a:t>
            </a:r>
          </a:p>
        </p:txBody>
      </p:sp>
    </p:spTree>
    <p:extLst>
      <p:ext uri="{BB962C8B-B14F-4D97-AF65-F5344CB8AC3E}">
        <p14:creationId xmlns:p14="http://schemas.microsoft.com/office/powerpoint/2010/main" val="20520578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B2F869E-0DE4-47C3-9C98-91C62A75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005" y="202626"/>
            <a:ext cx="11261993" cy="541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b">
            <a:normAutofit fontScale="100000" lnSpcReduction="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1666"/>
              </a:lnSpc>
              <a:buNone/>
            </a:pPr>
            <a:r>
              <a:rPr sz="2960" b="1" i="0" u="none">
                <a:solidFill>
                  <a:srgbClr val="002060"/>
                </a:solidFill>
                <a:latin typeface="Arial"/>
                <a:ea typeface="Arial"/>
                <a:cs typeface="Arial"/>
              </a:rPr>
              <a:t>Team Leader: Current Progress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FB90973-22FB-4F19-9939-6A1F1501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6478289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7" name="Table 4"/>
          <p:cNvGraphicFramePr/>
          <p:nvPr/>
        </p:nvGraphicFramePr>
        <p:xfrm>
          <a:off xmlns:a="http://schemas.openxmlformats.org/drawingml/2006/main" x="1143000" y="1638300"/>
          <a:ext xmlns:a="http://schemas.openxmlformats.org/drawingml/2006/main" cx="9906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1238250"/>
                <a:gridCol w="2428875"/>
                <a:gridCol w="3810000"/>
              </a:tblGrid>
              <a:tr h="469900">
                <a:tc>
                  <a:txBody>
                    <a:bodyPr anchor="t"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Task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2B2F36"/>
                      </a:solidFill>
                      <a:prstDash val="solid"/>
                    </a:lnL>
                    <a:lnR w="12700" cmpd="sng">
                      <a:solidFill>
                        <a:srgbClr val="2B2F36"/>
                      </a:solidFill>
                      <a:prstDash val="solid"/>
                    </a:lnR>
                    <a:lnT w="12700" cmpd="sng">
                      <a:solidFill>
                        <a:srgbClr val="2B2F36"/>
                      </a:solidFill>
                      <a:prstDash val="solid"/>
                    </a:lnT>
                    <a:lnB w="12700" cmpd="sng">
                      <a:solidFill>
                        <a:srgbClr val="2B2F3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Implemented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2B2F36"/>
                      </a:solidFill>
                      <a:prstDash val="solid"/>
                    </a:lnL>
                    <a:lnR w="12700" cmpd="sng">
                      <a:solidFill>
                        <a:srgbClr val="2B2F36"/>
                      </a:solidFill>
                      <a:prstDash val="solid"/>
                    </a:lnR>
                    <a:lnT w="12700" cmpd="sng">
                      <a:solidFill>
                        <a:srgbClr val="2B2F36"/>
                      </a:solidFill>
                      <a:prstDash val="solid"/>
                    </a:lnT>
                    <a:lnB w="12700" cmpd="sng">
                      <a:solidFill>
                        <a:srgbClr val="2B2F3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Test Result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2B2F36"/>
                      </a:solidFill>
                      <a:prstDash val="solid"/>
                    </a:lnL>
                    <a:lnR w="12700" cmpd="sng">
                      <a:solidFill>
                        <a:srgbClr val="2B2F36"/>
                      </a:solidFill>
                      <a:prstDash val="solid"/>
                    </a:lnR>
                    <a:lnT w="12700" cmpd="sng">
                      <a:solidFill>
                        <a:srgbClr val="2B2F36"/>
                      </a:solidFill>
                      <a:prstDash val="solid"/>
                    </a:lnT>
                    <a:lnB w="12700" cmpd="sng">
                      <a:solidFill>
                        <a:srgbClr val="2B2F3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Next Step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2B2F36"/>
                      </a:solidFill>
                      <a:prstDash val="solid"/>
                    </a:lnR>
                    <a:lnT w="12700" cmpd="sng">
                      <a:solidFill>
                        <a:srgbClr val="2B2F36"/>
                      </a:solidFill>
                      <a:prstDash val="solid"/>
                    </a:lnT>
                    <a:lnB w="12700" cmpd="sng">
                      <a:solidFill>
                        <a:srgbClr val="2B2F36"/>
                      </a:solidFill>
                      <a:prstDash val="solid"/>
                    </a:lnB>
                    <a:noFill/>
                  </a:tcPr>
                </a:tc>
              </a:tr>
              <a:tr h="469900">
                <a:tc>
                  <a:txBody>
                    <a:bodyPr anchor="t"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D-cache eviction outputs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2B2F36"/>
                      </a:solidFill>
                      <a:prstDash val="solid"/>
                    </a:lnL>
                    <a:lnR w="12700" cmpd="sng">
                      <a:solidFill>
                        <a:srgbClr val="2B2F36"/>
                      </a:solidFill>
                      <a:prstDash val="solid"/>
                    </a:lnR>
                    <a:lnT w="12700" cmpd="sng">
                      <a:solidFill>
                        <a:srgbClr val="2B2F36"/>
                      </a:solidFill>
                      <a:prstDash val="solid"/>
                    </a:lnT>
                    <a:lnB w="12700" cmpd="sng">
                      <a:solidFill>
                        <a:srgbClr val="2B2F3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Yes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2B2F36"/>
                      </a:solidFill>
                      <a:prstDash val="solid"/>
                    </a:lnL>
                    <a:lnR w="12700" cmpd="sng">
                      <a:solidFill>
                        <a:srgbClr val="2B2F36"/>
                      </a:solidFill>
                      <a:prstDash val="solid"/>
                    </a:lnR>
                    <a:lnT w="12700" cmpd="sng">
                      <a:solidFill>
                        <a:srgbClr val="2B2F36"/>
                      </a:solidFill>
                      <a:prstDash val="solid"/>
                    </a:lnT>
                    <a:lnB w="12700" cmpd="sng">
                      <a:solidFill>
                        <a:srgbClr val="2B2F3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System TB blocked by interface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2B2F36"/>
                      </a:solidFill>
                      <a:prstDash val="solid"/>
                    </a:lnL>
                    <a:lnR w="12700" cmpd="sng">
                      <a:solidFill>
                        <a:srgbClr val="2B2F36"/>
                      </a:solidFill>
                      <a:prstDash val="solid"/>
                    </a:lnR>
                    <a:lnT w="12700" cmpd="sng">
                      <a:solidFill>
                        <a:srgbClr val="2B2F36"/>
                      </a:solidFill>
                      <a:prstDash val="solid"/>
                    </a:lnT>
                    <a:lnB w="12700" cmpd="sng">
                      <a:solidFill>
                        <a:srgbClr val="2B2F3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Fix dcache_if.cpu modport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2B2F36"/>
                      </a:solidFill>
                      <a:prstDash val="solid"/>
                    </a:lnR>
                    <a:lnT w="12700" cmpd="sng">
                      <a:solidFill>
                        <a:srgbClr val="2B2F36"/>
                      </a:solidFill>
                      <a:prstDash val="solid"/>
                    </a:lnT>
                    <a:lnB w="12700" cmpd="sng">
                      <a:solidFill>
                        <a:srgbClr val="2B2F36"/>
                      </a:solidFill>
                      <a:prstDash val="solid"/>
                    </a:lnB>
                    <a:noFill/>
                  </a:tcPr>
                </a:tc>
              </a:tr>
              <a:tr h="736600">
                <a:tc>
                  <a:txBody>
                    <a:bodyPr anchor="t"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LRU replacement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2B2F36"/>
                      </a:solidFill>
                      <a:prstDash val="solid"/>
                    </a:lnL>
                    <a:lnR w="12700" cmpd="sng">
                      <a:solidFill>
                        <a:srgbClr val="2B2F36"/>
                      </a:solidFill>
                      <a:prstDash val="solid"/>
                    </a:lnR>
                    <a:lnT w="12700" cmpd="sng">
                      <a:solidFill>
                        <a:srgbClr val="2B2F36"/>
                      </a:solidFill>
                      <a:prstDash val="solid"/>
                    </a:lnT>
                    <a:lnB w="12700" cmpd="sng">
                      <a:solidFill>
                        <a:srgbClr val="2B2F3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Yes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2B2F36"/>
                      </a:solidFill>
                      <a:prstDash val="solid"/>
                    </a:lnL>
                    <a:lnR w="12700" cmpd="sng">
                      <a:solidFill>
                        <a:srgbClr val="2B2F36"/>
                      </a:solidFill>
                      <a:prstDash val="solid"/>
                    </a:lnR>
                    <a:lnT w="12700" cmpd="sng">
                      <a:solidFill>
                        <a:srgbClr val="2B2F36"/>
                      </a:solidFill>
                      <a:prstDash val="solid"/>
                    </a:lnT>
                    <a:lnB w="12700" cmpd="sng">
                      <a:solidFill>
                        <a:srgbClr val="2B2F3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basic_lru test PASS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2B2F36"/>
                      </a:solidFill>
                      <a:prstDash val="solid"/>
                    </a:lnL>
                    <a:lnR w="12700" cmpd="sng">
                      <a:solidFill>
                        <a:srgbClr val="2B2F36"/>
                      </a:solidFill>
                      <a:prstDash val="solid"/>
                    </a:lnR>
                    <a:lnT w="12700" cmpd="sng">
                      <a:solidFill>
                        <a:srgbClr val="2B2F36"/>
                      </a:solidFill>
                      <a:prstDash val="solid"/>
                    </a:lnT>
                    <a:lnB w="12700" cmpd="sng">
                      <a:solidFill>
                        <a:srgbClr val="2B2F3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Clean full verbose TB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2B2F36"/>
                      </a:solidFill>
                      <a:prstDash val="solid"/>
                    </a:lnR>
                    <a:lnT w="12700" cmpd="sng">
                      <a:solidFill>
                        <a:srgbClr val="2B2F36"/>
                      </a:solidFill>
                      <a:prstDash val="solid"/>
                    </a:lnT>
                    <a:lnB w="12700" cmpd="sng">
                      <a:solidFill>
                        <a:srgbClr val="2B2F36"/>
                      </a:solidFill>
                      <a:prstDash val="solid"/>
                    </a:lnB>
                    <a:noFill/>
                  </a:tcPr>
                </a:tc>
              </a:tr>
              <a:tr h="469900">
                <a:tc>
                  <a:txBody>
                    <a:bodyPr anchor="t"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Next-line prefetcher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2B2F36"/>
                      </a:solidFill>
                      <a:prstDash val="solid"/>
                    </a:lnL>
                    <a:lnR w="12700" cmpd="sng">
                      <a:solidFill>
                        <a:srgbClr val="2B2F36"/>
                      </a:solidFill>
                      <a:prstDash val="solid"/>
                    </a:lnR>
                    <a:lnT w="12700" cmpd="sng">
                      <a:solidFill>
                        <a:srgbClr val="2B2F36"/>
                      </a:solidFill>
                      <a:prstDash val="solid"/>
                    </a:lnT>
                    <a:lnB w="12700" cmpd="sng">
                      <a:solidFill>
                        <a:srgbClr val="2B2F3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Yes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2B2F36"/>
                      </a:solidFill>
                      <a:prstDash val="solid"/>
                    </a:lnL>
                    <a:lnR w="12700" cmpd="sng">
                      <a:solidFill>
                        <a:srgbClr val="2B2F36"/>
                      </a:solidFill>
                      <a:prstDash val="solid"/>
                    </a:lnR>
                    <a:lnT w="12700" cmpd="sng">
                      <a:solidFill>
                        <a:srgbClr val="2B2F36"/>
                      </a:solidFill>
                      <a:prstDash val="solid"/>
                    </a:lnT>
                    <a:lnB w="12700" cmpd="sng">
                      <a:solidFill>
                        <a:srgbClr val="2B2F3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7-group TB PASS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2B2F36"/>
                      </a:solidFill>
                      <a:prstDash val="solid"/>
                    </a:lnL>
                    <a:lnR w="12700" cmpd="sng">
                      <a:solidFill>
                        <a:srgbClr val="2B2F36"/>
                      </a:solidFill>
                      <a:prstDash val="solid"/>
                    </a:lnR>
                    <a:lnT w="12700" cmpd="sng">
                      <a:solidFill>
                        <a:srgbClr val="2B2F36"/>
                      </a:solidFill>
                      <a:prstDash val="solid"/>
                    </a:lnT>
                    <a:lnB w="12700" cmpd="sng">
                      <a:solidFill>
                        <a:srgbClr val="2B2F3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Integrate with cache path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2B2F36"/>
                      </a:solidFill>
                      <a:prstDash val="solid"/>
                    </a:lnR>
                    <a:lnT w="12700" cmpd="sng">
                      <a:solidFill>
                        <a:srgbClr val="2B2F36"/>
                      </a:solidFill>
                      <a:prstDash val="solid"/>
                    </a:lnT>
                    <a:lnB w="12700" cmpd="sng">
                      <a:solidFill>
                        <a:srgbClr val="2B2F36"/>
                      </a:solidFill>
                      <a:prstDash val="solid"/>
                    </a:lnB>
                    <a:noFill/>
                  </a:tcPr>
                </a:tc>
              </a:tr>
              <a:tr h="469900">
                <a:tc>
                  <a:txBody>
                    <a:bodyPr anchor="t"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Victim cache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2B2F36"/>
                      </a:solidFill>
                      <a:prstDash val="solid"/>
                    </a:lnL>
                    <a:lnR w="12700" cmpd="sng">
                      <a:solidFill>
                        <a:srgbClr val="2B2F36"/>
                      </a:solidFill>
                      <a:prstDash val="solid"/>
                    </a:lnR>
                    <a:lnT w="12700" cmpd="sng">
                      <a:solidFill>
                        <a:srgbClr val="2B2F36"/>
                      </a:solidFill>
                      <a:prstDash val="solid"/>
                    </a:lnT>
                    <a:lnB w="12700" cmpd="sng">
                      <a:solidFill>
                        <a:srgbClr val="2B2F3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Yes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2B2F36"/>
                      </a:solidFill>
                      <a:prstDash val="solid"/>
                    </a:lnL>
                    <a:lnR w="12700" cmpd="sng">
                      <a:solidFill>
                        <a:srgbClr val="2B2F36"/>
                      </a:solidFill>
                      <a:prstDash val="solid"/>
                    </a:lnR>
                    <a:lnT w="12700" cmpd="sng">
                      <a:solidFill>
                        <a:srgbClr val="2B2F36"/>
                      </a:solidFill>
                      <a:prstDash val="solid"/>
                    </a:lnT>
                    <a:lnB w="12700" cmpd="sng">
                      <a:solidFill>
                        <a:srgbClr val="2B2F3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TB written; compile blocked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2B2F36"/>
                      </a:solidFill>
                      <a:prstDash val="solid"/>
                    </a:lnL>
                    <a:lnR w="12700" cmpd="sng">
                      <a:solidFill>
                        <a:srgbClr val="2B2F36"/>
                      </a:solidFill>
                      <a:prstDash val="solid"/>
                    </a:lnR>
                    <a:lnT w="12700" cmpd="sng">
                      <a:solidFill>
                        <a:srgbClr val="2B2F36"/>
                      </a:solidFill>
                      <a:prstDash val="solid"/>
                    </a:lnT>
                    <a:lnB w="12700" cmpd="sng">
                      <a:solidFill>
                        <a:srgbClr val="2B2F3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Run conflict-miss regression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2B2F36"/>
                      </a:solidFill>
                      <a:prstDash val="solid"/>
                    </a:lnR>
                    <a:lnT w="12700" cmpd="sng">
                      <a:solidFill>
                        <a:srgbClr val="2B2F36"/>
                      </a:solidFill>
                      <a:prstDash val="solid"/>
                    </a:lnT>
                    <a:lnB w="12700" cmpd="sng">
                      <a:solidFill>
                        <a:srgbClr val="2B2F36"/>
                      </a:solidFill>
                      <a:prstDash val="solid"/>
                    </a:lnB>
                    <a:noFill/>
                  </a:tcPr>
                </a:tc>
              </a:tr>
              <a:tr h="736600">
                <a:tc>
                  <a:txBody>
                    <a:bodyPr anchor="t"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Second-period docs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2B2F36"/>
                      </a:solidFill>
                      <a:prstDash val="solid"/>
                    </a:lnL>
                    <a:lnR w="12700" cmpd="sng">
                      <a:solidFill>
                        <a:srgbClr val="2B2F36"/>
                      </a:solidFill>
                      <a:prstDash val="solid"/>
                    </a:lnR>
                    <a:lnT w="12700" cmpd="sng">
                      <a:solidFill>
                        <a:srgbClr val="2B2F36"/>
                      </a:solidFill>
                      <a:prstDash val="solid"/>
                    </a:lnT>
                    <a:lnB w="12700" cmpd="sng">
                      <a:solidFill>
                        <a:srgbClr val="2B2F3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Partial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2B2F36"/>
                      </a:solidFill>
                      <a:prstDash val="solid"/>
                    </a:lnL>
                    <a:lnR w="12700" cmpd="sng">
                      <a:solidFill>
                        <a:srgbClr val="2B2F36"/>
                      </a:solidFill>
                      <a:prstDash val="solid"/>
                    </a:lnR>
                    <a:lnT w="12700" cmpd="sng">
                      <a:solidFill>
                        <a:srgbClr val="2B2F36"/>
                      </a:solidFill>
                      <a:prstDash val="solid"/>
                    </a:lnT>
                    <a:lnB w="12700" cmpd="sng">
                      <a:solidFill>
                        <a:srgbClr val="2B2F3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README covers modules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2B2F36"/>
                      </a:solidFill>
                      <a:prstDash val="solid"/>
                    </a:lnL>
                    <a:lnR w="12700" cmpd="sng">
                      <a:solidFill>
                        <a:srgbClr val="2B2F36"/>
                      </a:solidFill>
                      <a:prstDash val="solid"/>
                    </a:lnR>
                    <a:lnT w="12700" cmpd="sng">
                      <a:solidFill>
                        <a:srgbClr val="2B2F36"/>
                      </a:solidFill>
                      <a:prstDash val="solid"/>
                    </a:lnT>
                    <a:lnB w="12700" cmpd="sng">
                      <a:solidFill>
                        <a:srgbClr val="2B2F3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Add performance evidence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2B2F36"/>
                      </a:solidFill>
                      <a:prstDash val="solid"/>
                    </a:lnR>
                    <a:lnT w="12700" cmpd="sng">
                      <a:solidFill>
                        <a:srgbClr val="2B2F36"/>
                      </a:solidFill>
                      <a:prstDash val="solid"/>
                    </a:lnT>
                    <a:lnB w="12700" cmpd="sng">
                      <a:solidFill>
                        <a:srgbClr val="2B2F3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097688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DF29105C-B64A-45E5-BA6F-8B16DF46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6478289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25A96303-6BFA-46A0-9F1F-1B373942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005" y="202626"/>
            <a:ext cx="11261993" cy="541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1666"/>
              </a:lnSpc>
              <a:buNone/>
            </a:pPr>
            <a:r>
              <a:rPr sz="3000" b="1" i="0" u="none">
                <a:solidFill>
                  <a:srgbClr val="002060"/>
                </a:solidFill>
                <a:latin typeface="Arial"/>
                <a:ea typeface="Arial"/>
                <a:cs typeface="Arial"/>
              </a:rPr>
              <a:t>Second-Period Module Overview</a:t>
            </a:r>
          </a:p>
        </p:txBody>
      </p:sp>
      <p:graphicFrame>
        <p:nvGraphicFramePr>
          <p:cNvPr id="7" name="Table 4"/>
          <p:cNvGraphicFramePr/>
          <p:nvPr/>
        </p:nvGraphicFramePr>
        <p:xfrm>
          <a:off xmlns:a="http://schemas.openxmlformats.org/drawingml/2006/main" x="666750" y="1000125"/>
          <a:ext xmlns:a="http://schemas.openxmlformats.org/drawingml/2006/main" cx="108585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000375"/>
                <a:gridCol w="3143250"/>
                <a:gridCol w="2714625"/>
              </a:tblGrid>
              <a:tr h="483668"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1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Module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solidFill>
                      <a:srgbClr val="E1EAFF">
                        <a:alpha val="100000"/>
                      </a:srgbClr>
                    </a:solidFill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1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Main Ports / Direction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solidFill>
                      <a:srgbClr val="E1EAFF">
                        <a:alpha val="100000"/>
                      </a:srgbClr>
                    </a:solidFill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1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Role in Design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solidFill>
                      <a:srgbClr val="E1EAFF">
                        <a:alpha val="100000"/>
                      </a:srgbClr>
                    </a:solidFill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1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Current Status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solidFill>
                      <a:srgbClr val="E1EAFF">
                        <a:alpha val="100000"/>
                      </a:srgbClr>
                    </a:solidFill>
                  </a:tcPr>
                </a:tc>
              </a:tr>
              <a:tr h="736600"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simple_dcache update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evict_valid/addr/data: output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Expose displaced line to victim cache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 rowSpan="7"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700" b="1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Implemented; interface fix needed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</a:tr>
              <a:tr h="736600"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basic_lru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update_en/set/way: input; victim_way: output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Replacement policy for VC / future set-assoc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anchor="t"/>
                    <a:lstStyle/>
                    <a:p>
                      <a:pPr algn="ctr">
                        <a:buNone/>
                      </a:pPr>
                      <a:r>
                        <a:t>Basic TB PASS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</a:tr>
              <a:tr h="736600"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prefetcher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upstream: dram; downstream: cache_mem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One-line next-line buffer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anchor="t"/>
                    <a:lstStyle/>
                    <a:p>
                      <a:pPr algn="ctr">
                        <a:buNone/>
                      </a:pPr>
                      <a:r>
                        <a:t>Dedicated TB PASS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</a:tr>
              <a:tr h="483668"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victim_cache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upstream: dram; downstream: cache_mem; evict_* in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Catch conflict misses from L1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anchor="t"/>
                    <a:lstStyle/>
                    <a:p>
                      <a:pPr algn="ctr">
                        <a:buNone/>
                      </a:pPr>
                      <a:r>
                        <a:t>Source + TB written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</a:tr>
              <a:tr h="736600"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testbench_prefetcher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BFM request/response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Verify cold, hit, write invalidation, in-flight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anchor="t"/>
                    <a:lstStyle/>
                    <a:p>
                      <a:pPr algn="ctr">
                        <a:buNone/>
                      </a:pPr>
                      <a:r>
                        <a:t>PASS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</a:tr>
              <a:tr h="736600"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tb_victim_cache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CPU-L1-VC-DRAM topology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Verify conflict miss and VC hit path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anchor="t"/>
                    <a:lstStyle/>
                    <a:p>
                      <a:pPr algn="ctr">
                        <a:buNone/>
                      </a:pPr>
                      <a:r>
                        <a:t>Compile blocked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</a:tr>
              <a:tr h="736600"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Conflict miss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Read 0x00000100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Same index, different tag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anchor="t"/>
                    <a:lstStyle/>
                    <a:p>
                      <a:pPr algn="ctr">
                        <a:buNone/>
                      </a:pP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92556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242A603A-F5CE-4054-8DC3-5CF83366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005" y="202626"/>
            <a:ext cx="11261993" cy="541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1666"/>
              </a:lnSpc>
              <a:buNone/>
            </a:pPr>
            <a:r>
              <a:rPr sz="3000" b="1" i="0" u="none">
                <a:solidFill>
                  <a:srgbClr val="002060"/>
                </a:solidFill>
                <a:latin typeface="Arial"/>
                <a:ea typeface="Arial"/>
                <a:cs typeface="Arial"/>
              </a:rPr>
              <a:t>Module: D-cache Update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EF2E289-A41E-433B-ACED-9F49DD16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6478289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14265412-1180-402E-ABDC-3460D317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095375"/>
            <a:ext cx="5572125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lvl1pPr marL="488950" indent="-203200">
              <a:buNone/>
              <a:defRPr/>
            </a:lvl1pPr>
            <a:lvl2pPr marL="946150" indent="-203200">
              <a:buNone/>
              <a:defRPr/>
            </a:lvl2pPr>
            <a:lvl3pPr marL="1403350" indent="-203200">
              <a:buNone/>
              <a:defRPr/>
            </a:lvl3pPr>
            <a:lvl4pPr marL="1860550" indent="-203200">
              <a:buNone/>
              <a:defRPr/>
            </a:lvl4pPr>
            <a:lvl5pPr marL="2317750" indent="-203200">
              <a:buNone/>
              <a:defRPr/>
            </a:lvl5pPr>
            <a:lvl6pPr marL="2774950" indent="-203200">
              <a:buNone/>
              <a:defRPr/>
            </a:lvl6pPr>
            <a:lvl7pPr marL="3232150" indent="-203200">
              <a:buNone/>
              <a:defRPr/>
            </a:lvl7pPr>
            <a:lvl8pPr marL="3689350" indent="-203200">
              <a:buNone/>
              <a:defRPr/>
            </a:lvl8pPr>
            <a:lvl9pPr marL="4146550" indent="-203200">
              <a:buNone/>
              <a:defRPr/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What changed since DR I:</a:t>
            </a:r>
          </a:p>
          <a:p xmlns:a="http://schemas.openxmlformats.org/drawingml/2006/main">
            <a:pPr marL="285750" indent="-285750" algn="l">
              <a:lnSpc>
                <a:spcPct val="125000"/>
              </a:lnSpc>
              <a:buChar char="•"/>
            </a:pPr>
            <a:r>
              <a:rPr sz="1600" b="0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- simple_dcache now exposes evict_valid, evict_addr, evict_data</a:t>
            </a:r>
          </a:p>
          <a:p xmlns:a="http://schemas.openxmlformats.org/drawingml/2006/main">
            <a:pPr marL="285750" indent="-285750" algn="l">
              <a:lnSpc>
                <a:spcPct val="125000"/>
              </a:lnSpc>
              <a:buChar char="•"/>
            </a:pPr>
            <a:r>
              <a:rPr sz="1600" b="0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- Eviction fires when a valid L1 line is displaced on a refill</a:t>
            </a:r>
          </a:p>
          <a:p xmlns:a="http://schemas.openxmlformats.org/drawingml/2006/main">
            <a:pPr marL="742950" indent="-285750" algn="l">
              <a:lnSpc>
                <a:spcPct val="125000"/>
              </a:lnSpc>
              <a:buChar char="○"/>
            </a:pPr>
            <a:r>
              <a:rPr sz="1600" b="1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- Write miss path separated into refill and write-through stages</a:t>
            </a:r>
          </a:p>
          <a:p xmlns:a="http://schemas.openxmlformats.org/drawingml/2006/main">
            <a:pPr marL="742950" indent="-285750" algn="l">
              <a:lnSpc>
                <a:spcPct val="125000"/>
              </a:lnSpc>
              <a:buChar char="○"/>
            </a:pPr>
            <a:r>
              <a:rPr sz="1600" b="1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- This prepares the baseline cache for victim-cache integration</a:t>
            </a:r>
          </a:p>
        </p:txBody>
      </p:sp>
      <p:cxnSp>
        <p:nvCxnSpPr>
          <p:cNvPr id="18" name="Connector 5"/>
          <p:cNvCxnSpPr/>
          <p:nvPr/>
        </p:nvCxnSpPr>
        <p:spPr>
          <a:xfrm xmlns:a="http://schemas.openxmlformats.org/drawingml/2006/main" rot="0">
            <a:off x="6386326" y="1022770"/>
            <a:ext cx="0" cy="5226919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2B2F36">
                <a:alpha val="100000"/>
              </a:srgbClr>
            </a:solidFill>
            <a:prstDash val="solid"/>
            <a:headEnd type="none" w="lg" len="lg"/>
            <a:tailEnd type="none" w="lg" len="lg"/>
          </a:ln>
        </p:spPr>
      </p:cxn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07D4AF73-D3CE-48D6-B97B-2FAF7E81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1095375"/>
            <a:ext cx="49530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lvl1pPr marL="488950" indent="-203200">
              <a:buNone/>
              <a:defRPr/>
            </a:lvl1pPr>
            <a:lvl2pPr marL="946150" indent="-203200">
              <a:buNone/>
              <a:defRPr/>
            </a:lvl2pPr>
            <a:lvl3pPr marL="1403350" indent="-203200">
              <a:buNone/>
              <a:defRPr/>
            </a:lvl3pPr>
            <a:lvl4pPr marL="1860550" indent="-203200">
              <a:buNone/>
              <a:defRPr/>
            </a:lvl4pPr>
            <a:lvl5pPr marL="2317750" indent="-203200">
              <a:buNone/>
              <a:defRPr/>
            </a:lvl5pPr>
            <a:lvl6pPr marL="2774950" indent="-203200">
              <a:buNone/>
              <a:defRPr/>
            </a:lvl6pPr>
            <a:lvl7pPr marL="3232150" indent="-203200">
              <a:buNone/>
              <a:defRPr/>
            </a:lvl7pPr>
            <a:lvl8pPr marL="3689350" indent="-203200">
              <a:buNone/>
              <a:defRPr/>
            </a:lvl8pPr>
            <a:lvl9pPr marL="4146550" indent="-203200">
              <a:buNone/>
              <a:defRPr/>
            </a:lvl9pPr>
          </a:lstStyle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Testbench focus:</a:t>
            </a:r>
          </a:p>
          <a:p xmlns:a="http://schemas.openxmlformats.org/drawingml/2006/main">
            <a:pPr marL="285750" indent="-285750" algn="l">
              <a:lnSpc>
                <a:spcPct val="125000"/>
              </a:lnSpc>
              <a:buChar char="•"/>
            </a:pPr>
            <a:r>
              <a:rPr sz="1600" b="0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- Existing directed d-cache tests cover read miss, read hit, write hit, write miss, conflict miss</a:t>
            </a:r>
          </a:p>
          <a:p xmlns:a="http://schemas.openxmlformats.org/drawingml/2006/main">
            <a:pPr marL="285750" indent="-285750" algn="l">
              <a:lnSpc>
                <a:spcPct val="125000"/>
              </a:lnSpc>
              <a:buChar char="•"/>
            </a:pPr>
            <a:r>
              <a:rPr sz="1600" b="0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- Current blocker: Verilator reports cpu_if.ready/rdata are driven through an input-only modport</a:t>
            </a:r>
          </a:p>
          <a:p xmlns:a="http://schemas.openxmlformats.org/drawingml/2006/main">
            <a:pPr marL="285750" indent="-285750" algn="l">
              <a:lnSpc>
                <a:spcPct val="125000"/>
              </a:lnSpc>
              <a:buChar char="•"/>
            </a:pPr>
            <a:r>
              <a:rPr sz="1600" b="0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- Fixing the interface direction is the next priority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9A4C8A-2A67-46CF-92CC-ACDBCB58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00625"/>
            <a:ext cx="10287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9050">
            <a:solidFill>
              <a:srgbClr val="447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2060"/>
                </a:solidFill>
              </a:defRPr>
            </a:pPr>
            <a:r>
              <a:rPr sz="1500" b="1">
                <a:solidFill>
                  <a:srgbClr val="002060"/>
                </a:solidFill>
              </a:rPr>
              <a:t>□ Figure placeholder: waveform / block diagram / terminal output</a:t>
            </a:r>
          </a:p>
        </p:txBody>
      </p:sp>
    </p:spTree>
    <p:extLst>
      <p:ext uri="{BB962C8B-B14F-4D97-AF65-F5344CB8AC3E}">
        <p14:creationId xmlns:p14="http://schemas.microsoft.com/office/powerpoint/2010/main" val="198074459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170F69E-3F5D-4748-9E6E-616A2503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005" y="202626"/>
            <a:ext cx="11261993" cy="541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1666"/>
              </a:lnSpc>
              <a:buNone/>
            </a:pPr>
            <a:r>
              <a:rPr sz="3000" b="1" i="0" u="none">
                <a:solidFill>
                  <a:srgbClr val="002060"/>
                </a:solidFill>
                <a:latin typeface="Arial"/>
                <a:ea typeface="Arial"/>
                <a:cs typeface="Arial"/>
              </a:rPr>
              <a:t>Module: LRU Replacement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E4105958-04F9-4166-965E-077FC98B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6478289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CECBC19-4AC7-48F7-B4B1-0B1DED6E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095375"/>
            <a:ext cx="5572125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lvl1pPr marL="488950" indent="-203200">
              <a:buNone/>
              <a:defRPr/>
            </a:lvl1pPr>
            <a:lvl2pPr marL="946150" indent="-203200">
              <a:buNone/>
              <a:defRPr/>
            </a:lvl2pPr>
            <a:lvl3pPr marL="1403350" indent="-203200">
              <a:buNone/>
              <a:defRPr/>
            </a:lvl3pPr>
            <a:lvl4pPr marL="1860550" indent="-203200">
              <a:buNone/>
              <a:defRPr/>
            </a:lvl4pPr>
            <a:lvl5pPr marL="2317750" indent="-203200">
              <a:buNone/>
              <a:defRPr/>
            </a:lvl5pPr>
            <a:lvl6pPr marL="2774950" indent="-203200">
              <a:buNone/>
              <a:defRPr/>
            </a:lvl6pPr>
            <a:lvl7pPr marL="3232150" indent="-203200">
              <a:buNone/>
              <a:defRPr/>
            </a:lvl7pPr>
            <a:lvl8pPr marL="3689350" indent="-203200">
              <a:buNone/>
              <a:defRPr/>
            </a:lvl8pPr>
            <a:lvl9pPr marL="4146550" indent="-203200">
              <a:buNone/>
              <a:defRPr/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Implementation:</a:t>
            </a:r>
          </a:p>
          <a:p xmlns:a="http://schemas.openxmlformats.org/drawingml/2006/main">
            <a:pPr marL="285750" indent="-285750" algn="l">
              <a:lnSpc>
                <a:spcPct val="125000"/>
              </a:lnSpc>
              <a:buChar char="•"/>
            </a:pPr>
            <a:r>
              <a:rPr sz="1600" b="0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- Parameterized NUM_SETS x NUM_WAYS tracker</a:t>
            </a:r>
          </a:p>
          <a:p xmlns:a="http://schemas.openxmlformats.org/drawingml/2006/main">
            <a:pPr marL="285750" indent="-285750" algn="l">
              <a:lnSpc>
                <a:spcPct val="125000"/>
              </a:lnSpc>
              <a:buChar char="•"/>
            </a:pPr>
            <a:r>
              <a:rPr sz="1600" b="0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- age = 0 means most recently used</a:t>
            </a:r>
          </a:p>
          <a:p xmlns:a="http://schemas.openxmlformats.org/drawingml/2006/main">
            <a:pPr marL="285750" indent="-285750" algn="l">
              <a:lnSpc>
                <a:spcPct val="125000"/>
              </a:lnSpc>
              <a:buChar char="•"/>
            </a:pPr>
            <a:r>
              <a:rPr sz="1600" b="0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- largest age is selected as victim_way</a:t>
            </a:r>
          </a:p>
          <a:p xmlns:a="http://schemas.openxmlformats.org/drawingml/2006/main">
            <a:pPr marL="285750" indent="-285750" algn="l">
              <a:lnSpc>
                <a:spcPct val="125000"/>
              </a:lnSpc>
              <a:buChar char="•"/>
            </a:pPr>
            <a:r>
              <a:rPr sz="1600" b="0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- Used by victim_cache as one-set, four-way replacement</a:t>
            </a:r>
          </a:p>
        </p:txBody>
      </p:sp>
      <p:cxnSp>
        <p:nvCxnSpPr>
          <p:cNvPr id="21" name="Connector 7"/>
          <p:cNvCxnSpPr/>
          <p:nvPr/>
        </p:nvCxnSpPr>
        <p:spPr>
          <a:xfrm xmlns:a="http://schemas.openxmlformats.org/drawingml/2006/main" rot="0">
            <a:off x="6386326" y="1022770"/>
            <a:ext cx="0" cy="5226919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2B2F36">
                <a:alpha val="100000"/>
              </a:srgbClr>
            </a:solidFill>
            <a:prstDash val="solid"/>
            <a:headEnd type="none" w="lg" len="lg"/>
            <a:tailEnd type="none" w="lg" len="lg"/>
          </a:ln>
        </p:spPr>
      </p:cxn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F008816E-5FB4-43CB-B645-62A5D0C7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1095375"/>
            <a:ext cx="49530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lvl1pPr marL="488950" indent="-203200">
              <a:buNone/>
              <a:defRPr/>
            </a:lvl1pPr>
            <a:lvl2pPr marL="946150" indent="-203200">
              <a:buNone/>
              <a:defRPr/>
            </a:lvl2pPr>
            <a:lvl3pPr marL="1403350" indent="-203200">
              <a:buNone/>
              <a:defRPr/>
            </a:lvl3pPr>
            <a:lvl4pPr marL="1860550" indent="-203200">
              <a:buNone/>
              <a:defRPr/>
            </a:lvl4pPr>
            <a:lvl5pPr marL="2317750" indent="-203200">
              <a:buNone/>
              <a:defRPr/>
            </a:lvl5pPr>
            <a:lvl6pPr marL="2774950" indent="-203200">
              <a:buNone/>
              <a:defRPr/>
            </a:lvl6pPr>
            <a:lvl7pPr marL="3232150" indent="-203200">
              <a:buNone/>
              <a:defRPr/>
            </a:lvl7pPr>
            <a:lvl8pPr marL="3689350" indent="-203200">
              <a:buNone/>
              <a:defRPr/>
            </a:lvl8pPr>
            <a:lvl9pPr marL="4146550" indent="-203200">
              <a:buNone/>
              <a:defRPr/>
            </a:lvl9pPr>
          </a:lstStyle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Testbench focus:</a:t>
            </a:r>
          </a:p>
          <a:p xmlns:a="http://schemas.openxmlformats.org/drawingml/2006/main">
            <a:pPr marL="285750" indent="-285750" algn="l">
              <a:lnSpc>
                <a:spcPct val="125000"/>
              </a:lnSpc>
              <a:buChar char="•"/>
            </a:pPr>
            <a:r>
              <a:rPr sz="1600" b="0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- testbench_lru.sv checks victim order after touches</a:t>
            </a:r>
          </a:p>
          <a:p xmlns:a="http://schemas.openxmlformats.org/drawingml/2006/main">
            <a:pPr marL="285750" indent="-285750" algn="l">
              <a:lnSpc>
                <a:spcPct val="125000"/>
              </a:lnSpc>
              <a:buChar char="•"/>
            </a:pPr>
            <a:r>
              <a:rPr sz="1600" b="0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- Local run passed: 3 -&gt; 2 -&gt; 1 -&gt; 0 -&gt; 3 victim sequence</a:t>
            </a:r>
          </a:p>
          <a:p xmlns:a="http://schemas.openxmlformats.org/drawingml/2006/main">
            <a:pPr marL="285750" indent="-285750" algn="l">
              <a:lnSpc>
                <a:spcPct val="125000"/>
              </a:lnSpc>
              <a:buChar char="•"/>
            </a:pPr>
            <a:r>
              <a:rPr sz="1600" b="0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- full LRU TB targets 4-way + 2-way golden-model testing</a:t>
            </a:r>
          </a:p>
          <a:p xmlns:a="http://schemas.openxmlformats.org/drawingml/2006/main">
            <a:pPr marL="285750" indent="-285750" algn="l">
              <a:lnSpc>
                <a:spcPct val="125000"/>
              </a:lnSpc>
              <a:buChar char="•"/>
            </a:pPr>
            <a:r>
              <a:rPr sz="1600" b="0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- Full TB currently needs variable/reference cleanup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02F382-29C4-4D17-8831-8756D9CB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00625"/>
            <a:ext cx="10287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9050">
            <a:solidFill>
              <a:srgbClr val="447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2060"/>
                </a:solidFill>
              </a:defRPr>
            </a:pPr>
            <a:r>
              <a:rPr sz="1500" b="1">
                <a:solidFill>
                  <a:srgbClr val="002060"/>
                </a:solidFill>
              </a:rPr>
              <a:t>□ Figure placeholder: waveform / block diagram / terminal output</a:t>
            </a:r>
          </a:p>
        </p:txBody>
      </p:sp>
    </p:spTree>
    <p:extLst>
      <p:ext uri="{BB962C8B-B14F-4D97-AF65-F5344CB8AC3E}">
        <p14:creationId xmlns:p14="http://schemas.microsoft.com/office/powerpoint/2010/main" val="147214968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242A603A-F5CE-4054-8DC3-5CF83366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005" y="202626"/>
            <a:ext cx="11261993" cy="541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1666"/>
              </a:lnSpc>
              <a:buNone/>
            </a:pPr>
            <a:r>
              <a:rPr sz="3000" b="1" i="0" u="none">
                <a:solidFill>
                  <a:srgbClr val="002060"/>
                </a:solidFill>
                <a:latin typeface="Arial"/>
                <a:ea typeface="Arial"/>
                <a:cs typeface="Arial"/>
              </a:rPr>
              <a:t>Module: Next-Line Prefetcher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EF2E289-A41E-433B-ACED-9F49DD16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6478289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14265412-1180-402E-ABDC-3460D317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095375"/>
            <a:ext cx="5572125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lvl1pPr marL="488950" indent="-203200">
              <a:buNone/>
              <a:defRPr/>
            </a:lvl1pPr>
            <a:lvl2pPr marL="946150" indent="-203200">
              <a:buNone/>
              <a:defRPr/>
            </a:lvl2pPr>
            <a:lvl3pPr marL="1403350" indent="-203200">
              <a:buNone/>
              <a:defRPr/>
            </a:lvl3pPr>
            <a:lvl4pPr marL="1860550" indent="-203200">
              <a:buNone/>
              <a:defRPr/>
            </a:lvl4pPr>
            <a:lvl5pPr marL="2317750" indent="-203200">
              <a:buNone/>
              <a:defRPr/>
            </a:lvl5pPr>
            <a:lvl6pPr marL="2774950" indent="-203200">
              <a:buNone/>
              <a:defRPr/>
            </a:lvl6pPr>
            <a:lvl7pPr marL="3232150" indent="-203200">
              <a:buNone/>
              <a:defRPr/>
            </a:lvl7pPr>
            <a:lvl8pPr marL="3689350" indent="-203200">
              <a:buNone/>
              <a:defRPr/>
            </a:lvl8pPr>
            <a:lvl9pPr marL="4146550" indent="-203200">
              <a:buNone/>
              <a:defRPr/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Implementation:</a:t>
            </a:r>
          </a:p>
          <a:p xmlns:a="http://schemas.openxmlformats.org/drawingml/2006/main">
            <a:pPr marL="285750" indent="-285750" algn="l">
              <a:lnSpc>
                <a:spcPct val="125000"/>
              </a:lnSpc>
              <a:buChar char="•"/>
            </a:pPr>
            <a:r>
              <a:rPr sz="1600" b="0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- Interposes between L1 miss bus and DRAM</a:t>
            </a:r>
          </a:p>
          <a:p xmlns:a="http://schemas.openxmlformats.org/drawingml/2006/main">
            <a:pPr marL="285750" indent="-285750" algn="l">
              <a:lnSpc>
                <a:spcPct val="125000"/>
              </a:lnSpc>
              <a:buChar char="•"/>
            </a:pPr>
            <a:r>
              <a:rPr sz="1600" b="0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- Stores one prefetched block in a buffer</a:t>
            </a:r>
          </a:p>
          <a:p xmlns:a="http://schemas.openxmlformats.org/drawingml/2006/main">
            <a:pPr marL="742950" indent="-285750" algn="l">
              <a:lnSpc>
                <a:spcPct val="125000"/>
              </a:lnSpc>
              <a:buChar char="○"/>
            </a:pPr>
            <a:r>
              <a:rPr sz="1600" b="1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- Demand requests have priority over prefetches</a:t>
            </a:r>
          </a:p>
          <a:p xmlns:a="http://schemas.openxmlformats.org/drawingml/2006/main">
            <a:pPr marL="742950" indent="-285750" algn="l">
              <a:lnSpc>
                <a:spcPct val="125000"/>
              </a:lnSpc>
              <a:buChar char="○"/>
            </a:pPr>
            <a:r>
              <a:rPr sz="1600" b="1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- Writes invalidate matching prefetched lines</a:t>
            </a:r>
          </a:p>
          <a:p xmlns:a="http://schemas.openxmlformats.org/drawingml/2006/main">
            <a:pPr marL="742950" indent="-285750" algn="l">
              <a:lnSpc>
                <a:spcPct val="125000"/>
              </a:lnSpc>
              <a:buChar char="○"/>
            </a:pPr>
            <a:r>
              <a:rPr sz="1600" b="1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- Exposes issue/fill/hit counters</a:t>
            </a:r>
          </a:p>
        </p:txBody>
      </p:sp>
      <p:cxnSp>
        <p:nvCxnSpPr>
          <p:cNvPr id="18" name="Connector 5"/>
          <p:cNvCxnSpPr/>
          <p:nvPr/>
        </p:nvCxnSpPr>
        <p:spPr>
          <a:xfrm xmlns:a="http://schemas.openxmlformats.org/drawingml/2006/main" rot="0">
            <a:off x="6386326" y="1022770"/>
            <a:ext cx="0" cy="5226919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2B2F36">
                <a:alpha val="100000"/>
              </a:srgbClr>
            </a:solidFill>
            <a:prstDash val="solid"/>
            <a:headEnd type="none" w="lg" len="lg"/>
            <a:tailEnd type="none" w="lg" len="lg"/>
          </a:ln>
        </p:spPr>
      </p:cxn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07D4AF73-D3CE-48D6-B97B-2FAF7E81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1095375"/>
            <a:ext cx="49530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lvl1pPr marL="488950" indent="-203200">
              <a:buNone/>
              <a:defRPr/>
            </a:lvl1pPr>
            <a:lvl2pPr marL="946150" indent="-203200">
              <a:buNone/>
              <a:defRPr/>
            </a:lvl2pPr>
            <a:lvl3pPr marL="1403350" indent="-203200">
              <a:buNone/>
              <a:defRPr/>
            </a:lvl3pPr>
            <a:lvl4pPr marL="1860550" indent="-203200">
              <a:buNone/>
              <a:defRPr/>
            </a:lvl4pPr>
            <a:lvl5pPr marL="2317750" indent="-203200">
              <a:buNone/>
              <a:defRPr/>
            </a:lvl5pPr>
            <a:lvl6pPr marL="2774950" indent="-203200">
              <a:buNone/>
              <a:defRPr/>
            </a:lvl6pPr>
            <a:lvl7pPr marL="3232150" indent="-203200">
              <a:buNone/>
              <a:defRPr/>
            </a:lvl7pPr>
            <a:lvl8pPr marL="3689350" indent="-203200">
              <a:buNone/>
              <a:defRPr/>
            </a:lvl8pPr>
            <a:lvl9pPr marL="4146550" indent="-203200">
              <a:buNone/>
              <a:defRPr/>
            </a:lvl9pPr>
          </a:lstStyle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Testbench focus:</a:t>
            </a:r>
          </a:p>
          <a:p xmlns:a="http://schemas.openxmlformats.org/drawingml/2006/main">
            <a:pPr marL="285750" indent="-285750" algn="l">
              <a:lnSpc>
                <a:spcPct val="125000"/>
              </a:lnSpc>
              <a:buChar char="•"/>
            </a:pPr>
            <a:r>
              <a:rPr sz="1600" b="0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- Cold demand read launches next-line prefetch</a:t>
            </a:r>
          </a:p>
          <a:p xmlns:a="http://schemas.openxmlformats.org/drawingml/2006/main">
            <a:pPr marL="285750" indent="-285750" algn="l">
              <a:lnSpc>
                <a:spcPct val="125000"/>
              </a:lnSpc>
              <a:buChar char="•"/>
            </a:pPr>
            <a:r>
              <a:rPr sz="1600" b="0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- Prefetched read is faster and chains another prefetch</a:t>
            </a:r>
          </a:p>
          <a:p xmlns:a="http://schemas.openxmlformats.org/drawingml/2006/main">
            <a:pPr marL="285750" indent="-285750" algn="l">
              <a:lnSpc>
                <a:spcPct val="125000"/>
              </a:lnSpc>
              <a:buChar char="•"/>
            </a:pPr>
            <a:r>
              <a:rPr sz="1600" b="0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- Non-sequential miss replaces buffered line</a:t>
            </a:r>
          </a:p>
          <a:p xmlns:a="http://schemas.openxmlformats.org/drawingml/2006/main">
            <a:pPr marL="285750" indent="-285750" algn="l">
              <a:lnSpc>
                <a:spcPct val="125000"/>
              </a:lnSpc>
              <a:buChar char="•"/>
            </a:pPr>
            <a:r>
              <a:rPr sz="1600" b="0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- Write invalidates stale prefetched data</a:t>
            </a:r>
          </a:p>
          <a:p xmlns:a="http://schemas.openxmlformats.org/drawingml/2006/main">
            <a:pPr marL="285750" indent="-285750" algn="l">
              <a:lnSpc>
                <a:spcPct val="125000"/>
              </a:lnSpc>
              <a:buChar char="•"/>
            </a:pPr>
            <a:r>
              <a:rPr sz="1600" b="0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- In-flight next-line request is captured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561A1A-8CC8-419D-9FAE-28DBAD2F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00625"/>
            <a:ext cx="10287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9050">
            <a:solidFill>
              <a:srgbClr val="447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2060"/>
                </a:solidFill>
              </a:defRPr>
            </a:pPr>
            <a:r>
              <a:rPr sz="1500" b="1">
                <a:solidFill>
                  <a:srgbClr val="002060"/>
                </a:solidFill>
              </a:rPr>
              <a:t>□ Figure placeholder: waveform / block diagram / terminal output</a:t>
            </a:r>
          </a:p>
        </p:txBody>
      </p:sp>
    </p:spTree>
    <p:extLst>
      <p:ext uri="{BB962C8B-B14F-4D97-AF65-F5344CB8AC3E}">
        <p14:creationId xmlns:p14="http://schemas.microsoft.com/office/powerpoint/2010/main" val="198074459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242A603A-F5CE-4054-8DC3-5CF83366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005" y="202626"/>
            <a:ext cx="11261993" cy="541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1666"/>
              </a:lnSpc>
              <a:buNone/>
            </a:pPr>
            <a:r>
              <a:rPr sz="3000" b="1" i="0" u="none">
                <a:solidFill>
                  <a:srgbClr val="002060"/>
                </a:solidFill>
                <a:latin typeface="Arial"/>
                <a:ea typeface="Arial"/>
                <a:cs typeface="Arial"/>
              </a:rPr>
              <a:t>Module: Victim Cache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EF2E289-A41E-433B-ACED-9F49DD16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6478289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14265412-1180-402E-ABDC-3460D317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095375"/>
            <a:ext cx="5572125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lvl1pPr marL="488950" indent="-203200">
              <a:buNone/>
              <a:defRPr/>
            </a:lvl1pPr>
            <a:lvl2pPr marL="946150" indent="-203200">
              <a:buNone/>
              <a:defRPr/>
            </a:lvl2pPr>
            <a:lvl3pPr marL="1403350" indent="-203200">
              <a:buNone/>
              <a:defRPr/>
            </a:lvl3pPr>
            <a:lvl4pPr marL="1860550" indent="-203200">
              <a:buNone/>
              <a:defRPr/>
            </a:lvl4pPr>
            <a:lvl5pPr marL="2317750" indent="-203200">
              <a:buNone/>
              <a:defRPr/>
            </a:lvl5pPr>
            <a:lvl6pPr marL="2774950" indent="-203200">
              <a:buNone/>
              <a:defRPr/>
            </a:lvl6pPr>
            <a:lvl7pPr marL="3232150" indent="-203200">
              <a:buNone/>
              <a:defRPr/>
            </a:lvl7pPr>
            <a:lvl8pPr marL="3689350" indent="-203200">
              <a:buNone/>
              <a:defRPr/>
            </a:lvl8pPr>
            <a:lvl9pPr marL="4146550" indent="-203200">
              <a:buNone/>
              <a:defRPr/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Implementation:</a:t>
            </a:r>
          </a:p>
          <a:p xmlns:a="http://schemas.openxmlformats.org/drawingml/2006/main">
            <a:pPr marL="285750" indent="-285750" algn="l">
              <a:lnSpc>
                <a:spcPct val="125000"/>
              </a:lnSpc>
              <a:buChar char="•"/>
            </a:pPr>
            <a:r>
              <a:rPr sz="1600" b="0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- Four-entry fully associative victim cache</a:t>
            </a:r>
          </a:p>
          <a:p xmlns:a="http://schemas.openxmlformats.org/drawingml/2006/main">
            <a:pPr marL="285750" indent="-285750" algn="l">
              <a:lnSpc>
                <a:spcPct val="125000"/>
              </a:lnSpc>
              <a:buChar char="•"/>
            </a:pPr>
            <a:r>
              <a:rPr sz="1600" b="0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- Placed between simple_dcache and dram_model</a:t>
            </a:r>
          </a:p>
          <a:p xmlns:a="http://schemas.openxmlformats.org/drawingml/2006/main">
            <a:pPr marL="742950" indent="-285750" algn="l">
              <a:lnSpc>
                <a:spcPct val="125000"/>
              </a:lnSpc>
              <a:buChar char="○"/>
            </a:pPr>
            <a:r>
              <a:rPr sz="1600" b="1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- Read hit returns block directly without DRAM access</a:t>
            </a:r>
          </a:p>
          <a:p xmlns:a="http://schemas.openxmlformats.org/drawingml/2006/main">
            <a:pPr marL="742950" indent="-285750" algn="l">
              <a:lnSpc>
                <a:spcPct val="125000"/>
              </a:lnSpc>
              <a:buChar char="○"/>
            </a:pPr>
            <a:r>
              <a:rPr sz="1600" b="1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- Read miss / writes forward downstream</a:t>
            </a:r>
          </a:p>
          <a:p xmlns:a="http://schemas.openxmlformats.org/drawingml/2006/main">
            <a:pPr marL="742950" indent="-285750" algn="l">
              <a:lnSpc>
                <a:spcPct val="125000"/>
              </a:lnSpc>
              <a:buChar char="○"/>
            </a:pPr>
            <a:r>
              <a:rPr sz="1600" b="1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- Absorbs L1 evictions through evict_* ports</a:t>
            </a:r>
          </a:p>
        </p:txBody>
      </p:sp>
      <p:cxnSp>
        <p:nvCxnSpPr>
          <p:cNvPr id="18" name="Connector 5"/>
          <p:cNvCxnSpPr/>
          <p:nvPr/>
        </p:nvCxnSpPr>
        <p:spPr>
          <a:xfrm xmlns:a="http://schemas.openxmlformats.org/drawingml/2006/main" rot="0">
            <a:off x="6386326" y="1022770"/>
            <a:ext cx="0" cy="5226919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2B2F36">
                <a:alpha val="100000"/>
              </a:srgbClr>
            </a:solidFill>
            <a:prstDash val="solid"/>
            <a:headEnd type="none" w="lg" len="lg"/>
            <a:tailEnd type="none" w="lg" len="lg"/>
          </a:ln>
        </p:spPr>
      </p:cxn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07D4AF73-D3CE-48D6-B97B-2FAF7E81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1095375"/>
            <a:ext cx="49530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lvl1pPr marL="488950" indent="-203200">
              <a:buNone/>
              <a:defRPr/>
            </a:lvl1pPr>
            <a:lvl2pPr marL="946150" indent="-203200">
              <a:buNone/>
              <a:defRPr/>
            </a:lvl2pPr>
            <a:lvl3pPr marL="1403350" indent="-203200">
              <a:buNone/>
              <a:defRPr/>
            </a:lvl3pPr>
            <a:lvl4pPr marL="1860550" indent="-203200">
              <a:buNone/>
              <a:defRPr/>
            </a:lvl4pPr>
            <a:lvl5pPr marL="2317750" indent="-203200">
              <a:buNone/>
              <a:defRPr/>
            </a:lvl5pPr>
            <a:lvl6pPr marL="2774950" indent="-203200">
              <a:buNone/>
              <a:defRPr/>
            </a:lvl6pPr>
            <a:lvl7pPr marL="3232150" indent="-203200">
              <a:buNone/>
              <a:defRPr/>
            </a:lvl7pPr>
            <a:lvl8pPr marL="3689350" indent="-203200">
              <a:buNone/>
              <a:defRPr/>
            </a:lvl8pPr>
            <a:lvl9pPr marL="4146550" indent="-203200">
              <a:buNone/>
              <a:defRPr/>
            </a:lvl9pPr>
          </a:lstStyle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Testbench focus:</a:t>
            </a:r>
          </a:p>
          <a:p xmlns:a="http://schemas.openxmlformats.org/drawingml/2006/main">
            <a:pPr marL="285750" indent="-285750" algn="l">
              <a:lnSpc>
                <a:spcPct val="125000"/>
              </a:lnSpc>
              <a:buChar char="•"/>
            </a:pPr>
            <a:r>
              <a:rPr sz="1600" b="0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- CPU-L1-VC-DRAM topology is written</a:t>
            </a:r>
          </a:p>
          <a:p xmlns:a="http://schemas.openxmlformats.org/drawingml/2006/main">
            <a:pPr marL="285750" indent="-285750" algn="l">
              <a:lnSpc>
                <a:spcPct val="125000"/>
              </a:lnSpc>
              <a:buChar char="•"/>
            </a:pPr>
            <a:r>
              <a:rPr sz="1600" b="0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- Intended flow: read A, read conflicting B, re-read A from VC, then L1 hit</a:t>
            </a:r>
          </a:p>
          <a:p xmlns:a="http://schemas.openxmlformats.org/drawingml/2006/main">
            <a:pPr marL="285750" indent="-285750" algn="l">
              <a:lnSpc>
                <a:spcPct val="125000"/>
              </a:lnSpc>
              <a:buChar char="•"/>
            </a:pPr>
            <a:r>
              <a:rPr sz="1600" b="0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- Also prints VC entries and eviction pulses</a:t>
            </a:r>
          </a:p>
          <a:p xmlns:a="http://schemas.openxmlformats.org/drawingml/2006/main">
            <a:pPr marL="285750" indent="-285750" algn="l">
              <a:lnSpc>
                <a:spcPct val="125000"/>
              </a:lnSpc>
              <a:buChar char="•"/>
            </a:pPr>
            <a:r>
              <a:rPr sz="1600" b="0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- Current compile is blocked by the d-cache modport issue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620CF-620F-4BE1-90EB-0BA8B591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00625"/>
            <a:ext cx="10287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9050">
            <a:solidFill>
              <a:srgbClr val="447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2060"/>
                </a:solidFill>
              </a:defRPr>
            </a:pPr>
            <a:r>
              <a:rPr sz="1500" b="1">
                <a:solidFill>
                  <a:srgbClr val="002060"/>
                </a:solidFill>
              </a:rPr>
              <a:t>□ Figure placeholder: waveform / block diagram / terminal output</a:t>
            </a:r>
          </a:p>
        </p:txBody>
      </p:sp>
    </p:spTree>
    <p:extLst>
      <p:ext uri="{BB962C8B-B14F-4D97-AF65-F5344CB8AC3E}">
        <p14:creationId xmlns:p14="http://schemas.microsoft.com/office/powerpoint/2010/main" val="198074459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DF29105C-B64A-45E5-BA6F-8B16DF46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6478289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25A96303-6BFA-46A0-9F1F-1B373942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005" y="202626"/>
            <a:ext cx="11261993" cy="541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1666"/>
              </a:lnSpc>
              <a:buNone/>
            </a:pPr>
            <a:r>
              <a:rPr sz="3000" b="1" i="0" u="none">
                <a:solidFill>
                  <a:srgbClr val="002060"/>
                </a:solidFill>
                <a:latin typeface="Arial"/>
                <a:ea typeface="Arial"/>
                <a:cs typeface="Arial"/>
              </a:rPr>
              <a:t>Testbench: D-cache and Victim Cache</a:t>
            </a:r>
          </a:p>
        </p:txBody>
      </p:sp>
      <p:graphicFrame>
        <p:nvGraphicFramePr>
          <p:cNvPr id="7" name="Table 4"/>
          <p:cNvGraphicFramePr/>
          <p:nvPr/>
        </p:nvGraphicFramePr>
        <p:xfrm>
          <a:off xmlns:a="http://schemas.openxmlformats.org/drawingml/2006/main" x="666750" y="1000125"/>
          <a:ext xmlns:a="http://schemas.openxmlformats.org/drawingml/2006/main" cx="108585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000375"/>
                <a:gridCol w="3143250"/>
                <a:gridCol w="2714625"/>
              </a:tblGrid>
              <a:tr h="483668"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1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Test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solidFill>
                      <a:srgbClr val="E1EAFF">
                        <a:alpha val="100000"/>
                      </a:srgbClr>
                    </a:solidFill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1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Access Pattern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solidFill>
                      <a:srgbClr val="E1EAFF">
                        <a:alpha val="100000"/>
                      </a:srgbClr>
                    </a:solidFill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1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Expected Result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solidFill>
                      <a:srgbClr val="E1EAFF">
                        <a:alpha val="100000"/>
                      </a:srgbClr>
                    </a:solidFill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1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Status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solidFill>
                      <a:srgbClr val="E1EAFF">
                        <a:alpha val="100000"/>
                      </a:srgbClr>
                    </a:solidFill>
                  </a:tcPr>
                </a:tc>
              </a:tr>
              <a:tr h="736600"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D-cache read miss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Read cold block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Fetch block from DRAM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 rowSpan="7"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700" b="1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TB exists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</a:tr>
              <a:tr h="736600"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D-cache read hit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Read same address again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Immediate cache data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anchor="t"/>
                    <a:lstStyle/>
                    <a:p>
                      <a:pPr algn="ctr">
                        <a:buNone/>
                      </a:pPr>
                      <a:r>
                        <a:t>TB exists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</a:tr>
              <a:tr h="736600"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D-cache write hit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Write cached word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Update cache and memory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anchor="t"/>
                    <a:lstStyle/>
                    <a:p>
                      <a:pPr algn="ctr">
                        <a:buNone/>
                      </a:pPr>
                      <a:r>
                        <a:t>TB exists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</a:tr>
              <a:tr h="483668"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D-cache write miss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Write uncached block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Write-allocate then write-through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anchor="t"/>
                    <a:lstStyle/>
                    <a:p>
                      <a:pPr algn="ctr">
                        <a:buNone/>
                      </a:pPr>
                      <a:r>
                        <a:t>TB exists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</a:tr>
              <a:tr h="736600"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Victim conflict path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A, B same index, re-read A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VC hit, no DRAM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anchor="t"/>
                    <a:lstStyle/>
                    <a:p>
                      <a:pPr algn="ctr">
                        <a:buNone/>
                      </a:pPr>
                      <a:r>
                        <a:t>TB written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</a:tr>
              <a:tr h="736600"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Current blocker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Compile L1 with CPU modport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ready/rdata driven legally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anchor="t"/>
                    <a:lstStyle/>
                    <a:p>
                      <a:pPr algn="ctr">
                        <a:buNone/>
                      </a:pPr>
                      <a:r>
                        <a:t>Needs fix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</a:tr>
              <a:tr h="736600"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Figure note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□ Add waveform/terminal output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Show eviction pulse and VC hit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anchor="t"/>
                    <a:lstStyle/>
                    <a:p>
                      <a:pPr algn="ctr">
                        <a:buNone/>
                      </a:pPr>
                      <a:r>
                        <a:t>Placeholder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925562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DF29105C-B64A-45E5-BA6F-8B16DF46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6478289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25A96303-6BFA-46A0-9F1F-1B373942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005" y="202626"/>
            <a:ext cx="11261993" cy="541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1666"/>
              </a:lnSpc>
              <a:buNone/>
            </a:pPr>
            <a:r>
              <a:rPr sz="3000" b="1" i="0" u="none">
                <a:solidFill>
                  <a:srgbClr val="002060"/>
                </a:solidFill>
                <a:latin typeface="Arial"/>
                <a:ea typeface="Arial"/>
                <a:cs typeface="Arial"/>
              </a:rPr>
              <a:t>Testbench: LRU Replacement</a:t>
            </a:r>
          </a:p>
        </p:txBody>
      </p:sp>
      <p:graphicFrame>
        <p:nvGraphicFramePr>
          <p:cNvPr id="7" name="Table 4"/>
          <p:cNvGraphicFramePr/>
          <p:nvPr/>
        </p:nvGraphicFramePr>
        <p:xfrm>
          <a:off xmlns:a="http://schemas.openxmlformats.org/drawingml/2006/main" x="666750" y="1000125"/>
          <a:ext xmlns:a="http://schemas.openxmlformats.org/drawingml/2006/main" cx="108585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000375"/>
                <a:gridCol w="3143250"/>
                <a:gridCol w="2714625"/>
              </a:tblGrid>
              <a:tr h="483668"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1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Test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solidFill>
                      <a:srgbClr val="E1EAFF">
                        <a:alpha val="100000"/>
                      </a:srgbClr>
                    </a:solidFill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1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Access Pattern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solidFill>
                      <a:srgbClr val="E1EAFF">
                        <a:alpha val="100000"/>
                      </a:srgbClr>
                    </a:solidFill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1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Expected Result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solidFill>
                      <a:srgbClr val="E1EAFF">
                        <a:alpha val="100000"/>
                      </a:srgbClr>
                    </a:solidFill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1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Status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solidFill>
                      <a:srgbClr val="E1EAFF">
                        <a:alpha val="100000"/>
                      </a:srgbClr>
                    </a:solidFill>
                  </a:tcPr>
                </a:tc>
              </a:tr>
              <a:tr h="736600"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Reset init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rst asserted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way age initializes by way index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 rowSpan="7"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700" b="1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Covered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</a:tr>
              <a:tr h="736600"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Sequential touches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Touch 3,2,1,0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Victim rotates 2,1,0,3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anchor="t"/>
                    <a:lstStyle/>
                    <a:p>
                      <a:pPr algn="ctr">
                        <a:buNone/>
                      </a:pPr>
                      <a:r>
                        <a:t>PASS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</a:tr>
              <a:tr h="736600"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Hold behavior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update_en = 0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victim_way stays stable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anchor="t"/>
                    <a:lstStyle/>
                    <a:p>
                      <a:pPr algn="ctr">
                        <a:buNone/>
                      </a:pPr>
                      <a:r>
                        <a:t>In full TB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</a:tr>
              <a:tr h="483668"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Multi-set independence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Update one set, read another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Other set unchanged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anchor="t"/>
                    <a:lstStyle/>
                    <a:p>
                      <a:pPr algn="ctr">
                        <a:buNone/>
                      </a:pPr>
                      <a:r>
                        <a:t>In full TB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</a:tr>
              <a:tr h="736600"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2-way boundary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NUM_SETS=1, NUM_WAYS=2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Correct victim toggle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anchor="t"/>
                    <a:lstStyle/>
                    <a:p>
                      <a:pPr algn="ctr">
                        <a:buNone/>
                      </a:pPr>
                      <a:r>
                        <a:t>In full TB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</a:tr>
              <a:tr h="736600"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Pseudo-random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100-step deterministic sequence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Match software model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anchor="t"/>
                    <a:lstStyle/>
                    <a:p>
                      <a:pPr algn="ctr">
                        <a:buNone/>
                      </a:pPr>
                      <a:r>
                        <a:t>In full TB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</a:tr>
              <a:tr h="736600"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Current blocker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Compile full TB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All groups run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anchor="t"/>
                    <a:lstStyle/>
                    <a:p>
                      <a:pPr algn="ctr">
                        <a:buNone/>
                      </a:pPr>
                      <a:r>
                        <a:t>Needs ev/reference fix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925562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DF29105C-B64A-45E5-BA6F-8B16DF46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6478289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25A96303-6BFA-46A0-9F1F-1B373942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005" y="202626"/>
            <a:ext cx="11261993" cy="541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1666"/>
              </a:lnSpc>
              <a:buNone/>
            </a:pPr>
            <a:r>
              <a:rPr sz="3000" b="1" i="0" u="none">
                <a:solidFill>
                  <a:srgbClr val="002060"/>
                </a:solidFill>
                <a:latin typeface="Arial"/>
                <a:ea typeface="Arial"/>
                <a:cs typeface="Arial"/>
              </a:rPr>
              <a:t>Testbench: Next-Line Prefetcher</a:t>
            </a:r>
          </a:p>
        </p:txBody>
      </p:sp>
      <p:graphicFrame>
        <p:nvGraphicFramePr>
          <p:cNvPr id="7" name="Table 4"/>
          <p:cNvGraphicFramePr/>
          <p:nvPr/>
        </p:nvGraphicFramePr>
        <p:xfrm>
          <a:off xmlns:a="http://schemas.openxmlformats.org/drawingml/2006/main" x="666750" y="1000125"/>
          <a:ext xmlns:a="http://schemas.openxmlformats.org/drawingml/2006/main" cx="108585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000375"/>
                <a:gridCol w="3143250"/>
                <a:gridCol w="2714625"/>
              </a:tblGrid>
              <a:tr h="483668"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1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Test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solidFill>
                      <a:srgbClr val="E1EAFF">
                        <a:alpha val="100000"/>
                      </a:srgbClr>
                    </a:solidFill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1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Access Pattern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solidFill>
                      <a:srgbClr val="E1EAFF">
                        <a:alpha val="100000"/>
                      </a:srgbClr>
                    </a:solidFill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1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Expected Result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solidFill>
                      <a:srgbClr val="E1EAFF">
                        <a:alpha val="100000"/>
                      </a:srgbClr>
                    </a:solidFill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1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Status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solidFill>
                      <a:srgbClr val="E1EAFF">
                        <a:alpha val="100000"/>
                      </a:srgbClr>
                    </a:solidFill>
                  </a:tcPr>
                </a:tc>
              </a:tr>
              <a:tr h="736600"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Cold read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Read ADDR_0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Return DRAM data and issue ADDR_1 prefetch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 rowSpan="7"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700" b="1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PASS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</a:tr>
              <a:tr h="736600"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Prefetch hit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Read ADDR_1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Faster than cold miss; hit counter increments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anchor="t"/>
                    <a:lstStyle/>
                    <a:p>
                      <a:pPr algn="ctr">
                        <a:buNone/>
                      </a:pPr>
                      <a:r>
                        <a:t>PASS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</a:tr>
              <a:tr h="736600"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Non-sequential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Read ADDR_4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Replace old buffer with ADDR_5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anchor="t"/>
                    <a:lstStyle/>
                    <a:p>
                      <a:pPr algn="ctr">
                        <a:buNone/>
                      </a:pPr>
                      <a:r>
                        <a:t>PASS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</a:tr>
              <a:tr h="483668"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Write invalidate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Write buffered line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Buffered copy becomes invalid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anchor="t"/>
                    <a:lstStyle/>
                    <a:p>
                      <a:pPr algn="ctr">
                        <a:buNone/>
                      </a:pPr>
                      <a:r>
                        <a:t>PASS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</a:tr>
              <a:tr h="736600"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Read after write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Read same block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Return written data via memory path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anchor="t"/>
                    <a:lstStyle/>
                    <a:p>
                      <a:pPr algn="ctr">
                        <a:buNone/>
                      </a:pPr>
                      <a:r>
                        <a:t>PASS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</a:tr>
              <a:tr h="736600"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In-flight demand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Read next line while prefetch busy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Captured and served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anchor="t"/>
                    <a:lstStyle/>
                    <a:p>
                      <a:pPr algn="ctr">
                        <a:buNone/>
                      </a:pPr>
                      <a:r>
                        <a:t>PASS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</a:tr>
              <a:tr h="736600"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Counters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End of test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7 issues, 7 fills, 2 hits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DDDEDF"/>
                      </a:solidFill>
                      <a:prstDash val="solid"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anchor="t"/>
                    <a:lstStyle/>
                    <a:p>
                      <a:pPr algn="ctr">
                        <a:buNone/>
                      </a:pPr>
                      <a:r>
                        <a:t>PASS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DDDEDF"/>
                      </a:solidFill>
                      <a:prstDash val="solid"/>
                    </a:lnR>
                    <a:lnT w="12700" cmpd="sng">
                      <a:solidFill>
                        <a:srgbClr val="DDDEDF"/>
                      </a:solidFill>
                      <a:prstDash val="solid"/>
                    </a:lnT>
                    <a:lnB w="12700" cmpd="sng">
                      <a:solidFill>
                        <a:srgbClr val="DDDED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925562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31FAF02-4163-4B54-9929-5E0F7EA1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6478289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D72EBB3-8596-45BA-968C-CCAE190C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005" y="202626"/>
            <a:ext cx="11261993" cy="541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1666"/>
              </a:lnSpc>
              <a:buNone/>
            </a:pPr>
            <a:r>
              <a:rPr sz="3000" b="1" i="0" u="none">
                <a:solidFill>
                  <a:srgbClr val="002060"/>
                </a:solidFill>
                <a:latin typeface="Arial"/>
                <a:ea typeface="Arial"/>
                <a:cs typeface="Arial"/>
              </a:rPr>
              <a:t>Figure / Evidence Placeholders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0B9F6-B2EA-4265-9FB7-49D3C490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43000"/>
            <a:ext cx="5334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9050">
            <a:solidFill>
              <a:srgbClr val="447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2060"/>
                </a:solidFill>
              </a:defRPr>
            </a:pPr>
            <a:r>
              <a:rPr sz="1500" b="1">
                <a:solidFill>
                  <a:srgbClr val="002060"/>
                </a:solidFill>
              </a:rPr>
              <a:t>□ Figure placeholder: top-level module connection diagram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8E5B6-E6B8-4B40-8284-2E7E60B3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43000"/>
            <a:ext cx="5334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9050">
            <a:solidFill>
              <a:srgbClr val="447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2060"/>
                </a:solidFill>
              </a:defRPr>
            </a:pPr>
            <a:r>
              <a:rPr sz="1500" b="1">
                <a:solidFill>
                  <a:srgbClr val="002060"/>
                </a:solidFill>
              </a:rPr>
              <a:t>□ Figure placeholder: LRU terminal PASS 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1B879-5E70-4E7A-B4B5-9F180A2B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5334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9050">
            <a:solidFill>
              <a:srgbClr val="447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2060"/>
                </a:solidFill>
              </a:defRPr>
            </a:pPr>
            <a:r>
              <a:rPr sz="1500" b="1">
                <a:solidFill>
                  <a:srgbClr val="002060"/>
                </a:solidFill>
              </a:rPr>
              <a:t>□ Figure placeholder: prefetcher terminal PASS 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F15C74-567A-4293-9583-48EE85F7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286125"/>
            <a:ext cx="5334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9050">
            <a:solidFill>
              <a:srgbClr val="447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2060"/>
                </a:solidFill>
              </a:defRPr>
            </a:pPr>
            <a:r>
              <a:rPr sz="1500" b="1">
                <a:solidFill>
                  <a:srgbClr val="002060"/>
                </a:solidFill>
              </a:rPr>
              <a:t>□ Figure placeholder: victim-cache waveform after modport fix</a:t>
            </a:r>
          </a:p>
        </p:txBody>
      </p:sp>
    </p:spTree>
    <p:extLst>
      <p:ext uri="{BB962C8B-B14F-4D97-AF65-F5344CB8AC3E}">
        <p14:creationId xmlns:p14="http://schemas.microsoft.com/office/powerpoint/2010/main" val="100021233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A790568-BB37-4735-A7B8-D09E549A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005" y="202626"/>
            <a:ext cx="11261993" cy="541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b">
            <a:normAutofit fontScale="100000" lnSpcReduction="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1666"/>
              </a:lnSpc>
              <a:buNone/>
            </a:pPr>
            <a:r>
              <a:rPr sz="2960" b="1" i="0" u="none">
                <a:solidFill>
                  <a:srgbClr val="002060"/>
                </a:solidFill>
                <a:latin typeface="Arial"/>
                <a:ea typeface="Arial"/>
                <a:cs typeface="Arial"/>
              </a:rPr>
              <a:t>Timeline: DR I to DR III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07059F7-7FBC-4154-BB10-C61B5671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6478289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9" name="Table 4"/>
          <p:cNvGraphicFramePr/>
          <p:nvPr/>
        </p:nvGraphicFramePr>
        <p:xfrm>
          <a:off xmlns:a="http://schemas.openxmlformats.org/drawingml/2006/main" x="666750" y="1190625"/>
          <a:ext xmlns:a="http://schemas.openxmlformats.org/drawingml/2006/main" cx="108585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36278"/>
                <a:gridCol w="1553564"/>
                <a:gridCol w="1415902"/>
                <a:gridCol w="5773370"/>
                <a:gridCol w="1141559"/>
              </a:tblGrid>
              <a:tr h="493237">
                <a:tc>
                  <a:txBody>
                    <a:bodyPr anchor="t"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466" b="1" i="0" u="none">
                          <a:solidFill>
                            <a:srgbClr val="121315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</a:rPr>
                        <a:t>Phase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66" b="1" i="0" u="none">
                          <a:solidFill>
                            <a:srgbClr val="121315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</a:rPr>
                        <a:t>Start Date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66" b="1" i="0" u="none">
                          <a:solidFill>
                            <a:srgbClr val="121315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</a:rPr>
                        <a:t>End Date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66" b="1" i="0" u="none">
                          <a:solidFill>
                            <a:srgbClr val="121315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</a:rPr>
                        <a:t>Specific Arrangements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66" b="1" i="0" u="none">
                          <a:solidFill>
                            <a:srgbClr val="121315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</a:rPr>
                        <a:t>Status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</a:tr>
              <a:tr h="493237">
                <a:tc rowSpan="4">
                  <a:txBody>
                    <a:bodyPr anchor="t"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Ongoing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5/29/2026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7/1/2026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66" b="0" i="0" u="none">
                          <a:solidFill>
                            <a:srgbClr val="121315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</a:rPr>
                        <a:t>Basic testing after each main commit and test modules during implementation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66" b="0" i="0" u="none">
                          <a:solidFill>
                            <a:srgbClr val="121315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</a:rPr>
                        <a:t>Active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</a:tr>
              <a:tr h="493237">
                <a:tc vMerge="1">
                  <a:txBody>
                    <a:bodyPr anchor="t"/>
                    <a:lstStyle/>
                    <a:p>
                      <a:pPr algn="l">
                        <a:buNone/>
                      </a:pPr>
                      <a:r>
                        <a:t>DR I prep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6/8/2026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6/10/2026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66" b="0" i="0" u="none">
                          <a:solidFill>
                            <a:srgbClr val="121315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</a:rPr>
                        <a:t>Design Review I preparation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66" b="0" i="0" u="none">
                          <a:solidFill>
                            <a:srgbClr val="121315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</a:rPr>
                        <a:t>Done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</a:tr>
              <a:tr h="493237">
                <a:tc vMerge="1">
                  <a:txBody>
                    <a:bodyPr anchor="t"/>
                    <a:lstStyle/>
                    <a:p>
                      <a:pPr algn="l">
                        <a:buNone/>
                      </a:pPr>
                      <a:r>
                        <a:t>Second period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6/10/2026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6/22/2026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66" b="0" i="0" u="none">
                          <a:solidFill>
                            <a:srgbClr val="121315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</a:rPr>
                        <a:t>2-way set-associative, LRU/FIFO, basic prefetch, fully-associative victim cache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66" b="0" i="0" u="none">
                          <a:solidFill>
                            <a:srgbClr val="121315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</a:rPr>
                        <a:t>In Progress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</a:tr>
              <a:tr h="493237">
                <a:tc vMerge="1">
                  <a:txBody>
                    <a:bodyPr anchor="t"/>
                    <a:lstStyle/>
                    <a:p>
                      <a:pPr algn="l">
                        <a:buNone/>
                      </a:pPr>
                      <a:r>
                        <a:t>DR II prep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6/20/2026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6/22/2026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66" b="0" i="0" u="none">
                          <a:solidFill>
                            <a:srgbClr val="121315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</a:rPr>
                        <a:t>Design Review II preparation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66" b="0" i="0" u="none">
                          <a:solidFill>
                            <a:srgbClr val="121315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</a:rPr>
                        <a:t>Current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</a:tr>
              <a:tr h="493237">
                <a:tc rowSpan="5">
                  <a:txBody>
                    <a:bodyPr anchor="t"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Debug / measure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6/23/2026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7/1/2026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66" b="0" i="0" u="none">
                          <a:solidFill>
                            <a:srgbClr val="121315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</a:rPr>
                        <a:t>Stress testing, debugging, performance measurement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66" b="0" i="0" u="none">
                          <a:solidFill>
                            <a:srgbClr val="FFC60A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</a:rPr>
                        <a:t>Next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482600">
                <a:tc vMerge="1">
                  <a:txBody>
                    <a:bodyPr anchor="t"/>
                    <a:lstStyle/>
                    <a:p>
                      <a:pPr algn="l">
                        <a:buNone/>
                      </a:pPr>
                      <a:r>
                        <a:t>MSHR start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6/25/2026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7/1/2026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66" b="0" i="0" u="none">
                          <a:solidFill>
                            <a:srgbClr val="121315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</a:rPr>
                        <a:t>Initial MSHR design and initial non-blocking cache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66" b="0" i="0" u="none">
                          <a:solidFill>
                            <a:srgbClr val="D83931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</a:rPr>
                        <a:t>Next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</a:tr>
              <a:tr h="493237">
                <a:tc vMerge="1">
                  <a:txBody>
                    <a:bodyPr anchor="t"/>
                    <a:lstStyle/>
                    <a:p>
                      <a:pPr algn="l">
                        <a:buNone/>
                      </a:pPr>
                      <a:r>
                        <a:t>DR III prep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6/29/2026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7/1/2026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66" b="0" i="0" u="none">
                          <a:solidFill>
                            <a:srgbClr val="121315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</a:rPr>
                        <a:t>Design Review III preparation</a:t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66" b="0" i="0" u="none">
                          <a:solidFill>
                            <a:srgbClr val="D83931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</a:rPr>
                        <a:t>Next</a:t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</a:tr>
              <a:tr h="493237">
                <a:tc vMerge="1">
                  <a:txBody>
                    <a:bodyPr anchor="t"/>
                    <a:lstStyle/>
                    <a:p>
                      <a:pPr algn="l">
                        <a:buNone/>
                      </a:pPr>
                      <a:r>
                        <a:t/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/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/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66" b="0" i="0" u="none">
                          <a:solidFill>
                            <a:srgbClr val="121315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</a:rPr>
                        <a:t/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66" b="0" i="0" u="none">
                          <a:solidFill>
                            <a:srgbClr val="D83931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</a:rPr>
                        <a:t/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</a:tr>
              <a:tr h="493237">
                <a:tc vMerge="1">
                  <a:txBody>
                    <a:bodyPr anchor="t"/>
                    <a:lstStyle/>
                    <a:p>
                      <a:pPr algn="l">
                        <a:buNone/>
                      </a:pPr>
                      <a:r>
                        <a:t/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/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/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66" b="0" i="0" u="none">
                          <a:solidFill>
                            <a:srgbClr val="121315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</a:rPr>
                        <a:t/>
                      </a:r>
                    </a:p>
                  </a:txBody>
                  <a:tcPr marL="101600" marR="0" marT="101600" marB="101600" anchor="ctr">
                    <a:lnL w="12700" cmpd="sng">
                      <a:solidFill>
                        <a:srgbClr val="1F1F1F"/>
                      </a:solidFill>
                      <a:prstDash val="solid"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466" b="0" i="0" u="none">
                          <a:solidFill>
                            <a:srgbClr val="D83931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</a:rPr>
                        <a:t/>
                      </a:r>
                    </a:p>
                  </a:txBody>
                  <a:tcPr marL="101600" marR="0" marT="101600" marB="101600" anchor="ctr">
                    <a:lnL>
                      <a:noFill/>
                    </a:lnL>
                    <a:lnR w="12700" cmpd="sng">
                      <a:solidFill>
                        <a:srgbClr val="1F1F1F"/>
                      </a:solidFill>
                      <a:prstDash val="solid"/>
                    </a:lnR>
                    <a:lnT w="12700" cmpd="sng">
                      <a:solidFill>
                        <a:srgbClr val="1F1F1F"/>
                      </a:solidFill>
                      <a:prstDash val="solid"/>
                    </a:lnT>
                    <a:lnB w="12700" cmpd="sng">
                      <a:solidFill>
                        <a:srgbClr val="1F1F1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CAEC5A20-8ECA-4381-8EE8-55BA9CDC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367" y="3520621"/>
            <a:ext cx="58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0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Today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0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6/21</a:t>
            </a:r>
          </a:p>
        </p:txBody>
      </p:sp>
    </p:spTree>
    <p:extLst>
      <p:ext uri="{BB962C8B-B14F-4D97-AF65-F5344CB8AC3E}">
        <p14:creationId xmlns:p14="http://schemas.microsoft.com/office/powerpoint/2010/main" val="89486727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2406894-00CB-47C4-B2E6-6270DBE5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005" y="202626"/>
            <a:ext cx="11261993" cy="541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b">
            <a:normAutofit fontScale="100000" lnSpcReduction="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1666"/>
              </a:lnSpc>
              <a:buNone/>
            </a:pPr>
            <a:r>
              <a:rPr sz="2960" b="1" i="0" u="none">
                <a:solidFill>
                  <a:srgbClr val="002060"/>
                </a:solidFill>
                <a:latin typeface="Arial"/>
                <a:ea typeface="Arial"/>
                <a:cs typeface="Arial"/>
              </a:rPr>
              <a:t>Challenges &amp; Next Steps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20CDCAD7-0A9F-491B-A729-6DC8677F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6478289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1949C6F4-8FDA-4F40-ACF7-82A4FB1F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3766" y="1134910"/>
            <a:ext cx="2887239" cy="54101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5400" cmpd="sng">
            <a:solidFill>
              <a:srgbClr val="1F1F1F">
                <a:alpha val="100000"/>
              </a:srgbClr>
            </a:solidFill>
            <a:prstDash val="solid"/>
          </a:ln>
        </p:spPr>
        <p:txBody>
          <a:bodyPr xmlns:a="http://schemas.openxmlformats.org/drawingml/2006/main" wrap="square" lIns="63500" tIns="63500" rIns="63500" bIns="635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600" b="1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CHALLENGES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DEA2CBA-7C1D-4ABF-9421-E6776EAF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7579" y="1167119"/>
            <a:ext cx="2887239" cy="54101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5400" cmpd="sng">
            <a:solidFill>
              <a:srgbClr val="1F1F1F">
                <a:alpha val="100000"/>
              </a:srgbClr>
            </a:solidFill>
            <a:prstDash val="solid"/>
          </a:ln>
        </p:spPr>
        <p:txBody>
          <a:bodyPr xmlns:a="http://schemas.openxmlformats.org/drawingml/2006/main" wrap="square" lIns="63500" tIns="63500" rIns="63500" bIns="635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600" b="1" i="0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NEXT STEPS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74576C6F-62B9-4B52-9D4B-0C9DAC7C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3946" y="2067194"/>
            <a:ext cx="4786878" cy="4456841"/>
          </a:xfrm>
          <a:prstGeom xmlns:a="http://schemas.openxmlformats.org/drawingml/2006/main" prst="roundRect">
            <a:avLst>
              <a:gd name="adj" fmla="val 4559"/>
            </a:avLst>
          </a:prstGeom>
          <a:solidFill xmlns:a="http://schemas.openxmlformats.org/drawingml/2006/main">
            <a:srgbClr val="E1EAFF">
              <a:alpha val="100000"/>
            </a:srgbClr>
          </a:solidFill>
          <a:ln xmlns:a="http://schemas.openxmlformats.org/drawingml/2006/main" w="25400">
            <a:noFill/>
            <a:prstDash val="solid"/>
          </a:ln>
        </p:spPr>
        <p:txBody>
          <a:bodyPr xmlns:a="http://schemas.openxmlformats.org/drawingml/2006/main" wrap="square" lIns="63500" tIns="63500" rIns="63500" bIns="63500" anchor="ctr"/>
          <a:lstStyle xmlns:a="http://schemas.openxmlformats.org/drawingml/2006/main"/>
          <a:p xmlns:a="http://schemas.openxmlformats.org/drawingml/2006/main">
            <a:pPr marL="215900" indent="-215900" algn="l">
              <a:lnSpc>
                <a:spcPct val="125000"/>
              </a:lnSpc>
              <a:buChar char="•"/>
            </a:pPr>
            <a:r>
              <a:rPr sz="1700" b="1" i="0" u="none">
                <a:solidFill>
                  <a:srgbClr val="1F2329"/>
                </a:solidFill>
                <a:latin typeface="Arial"/>
                <a:ea typeface="Arial"/>
                <a:cs typeface="Arial"/>
              </a:rPr>
              <a:t>Interface direction: simple_dcache drives ready/rdata through input-only cpu modport.</a:t>
            </a:r>
          </a:p>
          <a:p xmlns:a="http://schemas.openxmlformats.org/drawingml/2006/main">
            <a:pPr marL="215900" indent="-215900" algn="l">
              <a:lnSpc>
                <a:spcPct val="125000"/>
              </a:lnSpc>
              <a:buChar char="•"/>
            </a:pPr>
            <a:r>
              <a:rPr sz="1700" b="1" i="0" u="none">
                <a:solidFill>
                  <a:srgbClr val="1F2329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215900" indent="-215900" algn="l">
              <a:lnSpc>
                <a:spcPct val="125000"/>
              </a:lnSpc>
              <a:buChar char="•"/>
            </a:pPr>
            <a:r>
              <a:rPr sz="1700" b="1" i="0" u="none">
                <a:solidFill>
                  <a:srgbClr val="1F2329"/>
                </a:solidFill>
                <a:latin typeface="Arial"/>
                <a:ea typeface="Arial"/>
                <a:cs typeface="Arial"/>
              </a:rPr>
              <a:t>Full LRU TB: broad coverage, but current file needs variable/reference cleanup.</a:t>
            </a:r>
          </a:p>
          <a:p xmlns:a="http://schemas.openxmlformats.org/drawingml/2006/main">
            <a:pPr marL="215900" indent="-215900" algn="l">
              <a:lnSpc>
                <a:spcPct val="125000"/>
              </a:lnSpc>
              <a:buChar char="•"/>
            </a:pPr>
            <a:r>
              <a:rPr sz="1700" b="1" i="0" u="none">
                <a:solidFill>
                  <a:srgbClr val="1F2329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215900" indent="-215900" algn="l">
              <a:lnSpc>
                <a:spcPct val="125000"/>
              </a:lnSpc>
              <a:buChar char="•"/>
            </a:pPr>
            <a:r>
              <a:rPr sz="1700" b="1" i="0" u="none">
                <a:solidFill>
                  <a:srgbClr val="1F2329"/>
                </a:solidFill>
                <a:latin typeface="Arial"/>
                <a:ea typeface="Arial"/>
                <a:cs typeface="Arial"/>
              </a:rPr>
              <a:t>System evidence: victim-cache test cannot run until interface fix.</a:t>
            </a:r>
          </a:p>
          <a:p xmlns:a="http://schemas.openxmlformats.org/drawingml/2006/main">
            <a:pPr marL="215900" indent="-215900" algn="l">
              <a:lnSpc>
                <a:spcPct val="125000"/>
              </a:lnSpc>
              <a:buChar char="•"/>
            </a:pPr>
            <a:r>
              <a:rPr sz="1700" b="1" i="0" u="none">
                <a:solidFill>
                  <a:srgbClr val="1F2329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215900" indent="-215900" algn="l">
              <a:lnSpc>
                <a:spcPct val="125000"/>
              </a:lnSpc>
              <a:buChar char="•"/>
            </a:pPr>
            <a:r>
              <a:rPr sz="1700" b="1" i="0" u="none">
                <a:solidFill>
                  <a:srgbClr val="1F2329"/>
                </a:solidFill>
                <a:latin typeface="Arial"/>
                <a:ea typeface="Arial"/>
                <a:cs typeface="Arial"/>
              </a:rPr>
              <a:t>Figure evidence: insert screenshots/waveforms after passing regressions.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9587DB84-601C-4FA1-BAF5-A8D8E7D7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7760" y="2067194"/>
            <a:ext cx="4786878" cy="4456841"/>
          </a:xfrm>
          <a:prstGeom xmlns:a="http://schemas.openxmlformats.org/drawingml/2006/main" prst="roundRect">
            <a:avLst>
              <a:gd name="adj" fmla="val 4559"/>
            </a:avLst>
          </a:prstGeom>
          <a:solidFill xmlns:a="http://schemas.openxmlformats.org/drawingml/2006/main">
            <a:srgbClr val="E1EAFF">
              <a:alpha val="100000"/>
            </a:srgbClr>
          </a:solidFill>
          <a:ln xmlns:a="http://schemas.openxmlformats.org/drawingml/2006/main" w="25400">
            <a:noFill/>
            <a:prstDash val="solid"/>
          </a:ln>
        </p:spPr>
        <p:txBody>
          <a:bodyPr xmlns:a="http://schemas.openxmlformats.org/drawingml/2006/main" wrap="square" lIns="63500" tIns="63500" rIns="63500" bIns="63500" anchor="ctr"/>
          <a:lstStyle xmlns:a="http://schemas.openxmlformats.org/drawingml/2006/main"/>
          <a:p xmlns:a="http://schemas.openxmlformats.org/drawingml/2006/main">
            <a:pPr marL="215900" indent="-215900" algn="l">
              <a:lnSpc>
                <a:spcPct val="125000"/>
              </a:lnSpc>
              <a:buChar char="•"/>
            </a:pPr>
            <a:r>
              <a:rPr sz="1700" b="1" i="0" u="none">
                <a:solidFill>
                  <a:srgbClr val="1F2329"/>
                </a:solidFill>
                <a:latin typeface="Arial"/>
                <a:ea typeface="Arial"/>
                <a:cs typeface="Arial"/>
              </a:rPr>
              <a:t>Fix dcache_if modport and rerun d-cache + victim-cache testbenches.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700" b="0" i="0" u="none">
                <a:solidFill>
                  <a:srgbClr val="1F2329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215900" indent="-215900" algn="l">
              <a:lnSpc>
                <a:spcPct val="125000"/>
              </a:lnSpc>
              <a:buChar char="•"/>
            </a:pPr>
            <a:r>
              <a:rPr sz="1700" b="1" i="0" u="none">
                <a:solidFill>
                  <a:srgbClr val="1F2329"/>
                </a:solidFill>
                <a:latin typeface="Arial"/>
                <a:ea typeface="Arial"/>
                <a:cs typeface="Arial"/>
              </a:rPr>
              <a:t>Keep prefetcher and basic_lru tests as smoke tests after each commit.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700" b="0" i="0" u="none">
                <a:solidFill>
                  <a:srgbClr val="1F2329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215900" indent="-215900" algn="l">
              <a:lnSpc>
                <a:spcPct val="125000"/>
              </a:lnSpc>
              <a:buChar char="•"/>
            </a:pPr>
            <a:r>
              <a:rPr sz="1700" b="1" i="0" u="none">
                <a:solidFill>
                  <a:srgbClr val="1F2329"/>
                </a:solidFill>
                <a:latin typeface="Arial"/>
                <a:ea typeface="Arial"/>
                <a:cs typeface="Arial"/>
              </a:rPr>
              <a:t>Add terminal screenshots/waveforms into the square placeholders.</a:t>
            </a:r>
          </a:p>
          <a:p xmlns:a="http://schemas.openxmlformats.org/drawingml/2006/main">
            <a:pPr marL="215900" indent="-215900" algn="l">
              <a:lnSpc>
                <a:spcPct val="125000"/>
              </a:lnSpc>
              <a:buChar char="•"/>
            </a:pPr>
            <a:r>
              <a:rPr sz="1700" b="1" i="0" u="none">
                <a:solidFill>
                  <a:srgbClr val="1F2329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215900" indent="-215900" algn="l">
              <a:lnSpc>
                <a:spcPct val="125000"/>
              </a:lnSpc>
              <a:buChar char="•"/>
            </a:pPr>
            <a:r>
              <a:rPr sz="1700" b="1" i="0" u="none">
                <a:solidFill>
                  <a:srgbClr val="1F2329"/>
                </a:solidFill>
                <a:latin typeface="Arial"/>
                <a:ea typeface="Arial"/>
                <a:cs typeface="Arial"/>
              </a:rPr>
              <a:t>Before DR III: stress testing, performance counters, and initial MSHR direction.</a:t>
            </a:r>
          </a:p>
        </p:txBody>
      </p:sp>
    </p:spTree>
    <p:extLst>
      <p:ext uri="{BB962C8B-B14F-4D97-AF65-F5344CB8AC3E}">
        <p14:creationId xmlns:p14="http://schemas.microsoft.com/office/powerpoint/2010/main" val="532374818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2026-06-21T07:45:00.2190000Z</dcterms:created>
  <dcterms:modified xsi:type="dcterms:W3CDTF">2026-06-21T07:45:00.2190000Z</dcterms:modified>
</coreProperties>
</file>